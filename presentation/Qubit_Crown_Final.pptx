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Familjen Grotesk Bold"/>
      <p:regular r:id="rId201314"/>
    </p:embeddedFont>
    <p:embeddedFont>
      <p:font typeface="Onest"/>
      <p:regular r:id="rId201315"/>
    </p:embeddedFont>
    <p:embeddedFont>
      <p:font typeface="Onest SemiBold"/>
      <p:regular r:id="rId201316"/>
    </p:embeddedFont>
    <p:embeddedFont>
      <p:font typeface="Onest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ype="http://schemas.openxmlformats.org/officeDocument/2006/relationships/font" Target="fonts/201314.fntdata"/><Relationship Id="rId201315" Type="http://schemas.openxmlformats.org/officeDocument/2006/relationships/font" Target="fonts/201315.fntdata"/><Relationship Id="rId201316" Type="http://schemas.openxmlformats.org/officeDocument/2006/relationships/font" Target="fonts/201316.fntdata"/><Relationship Id="rId201317" Type="http://schemas.openxmlformats.org/officeDocument/2006/relationships/font" Target="fonts/2013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0:00–0:10 (10s)]</a:t>
            </a:r>
          </a:p>
          <a:p>
            <a:r>
              <a:t>Hi everyone, we're Ayaan and Vivaan. For the Qiskit Fall Fest 2026 Advanced Track, we built Qubit Crown, an interactive strategy game for exploring quantum error detection.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0:10–0:28 (18s)]</a:t>
            </a:r>
          </a:p>
          <a:p>
            <a:r>
              <a:t>Quantum error detection involves a fundamental trade-off. Using ancilla qubits and syndrome checks, we can post-select outcomes and discard runs where errors are flagged. That can improve the fidelity of accepted results, but it throws away shots and adds circuit gates that introduce their own noise.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0:28–0:50 (22s)]</a:t>
            </a:r>
          </a:p>
          <a:p>
            <a:r>
              <a:t>Qubit Crown turns this trade-off into a five-level campaign. In each mission, you inspect a Clifford payload circuit, choose which data-qubit lanes to guard within a check budget, and run a 2,048-shot noisy simulation. You then see whether your accepted fidelity and shot retention pass the level.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0:50–1:10 (20s)]</a:t>
            </a:r>
          </a:p>
          <a:p>
            <a:r>
              <a:t>Under the hood, each run starts with a Clifford payload circuit in Qiskit. We use qiskit-paulice to synthesize spacetime Pauli checks on the selected qubits, and simulate noisy shots in Qiskit Aer using a FakeTorino-derived noise model. Flagged shots are filtered out during post-selection—not corrected in flight.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1:10–1:35 (25s)]</a:t>
            </a:r>
          </a:p>
          <a:p>
            <a:r>
              <a:t>Here is what that looks like in Level 1. Without checks, baseline fidelity is 89.68 percent with 100 percent retention. Adding a single check on q0 increases circuit depth from 20 to 29 and adds two two-qubit gates. Post-selection discards 360 flagged shots, dropping retention to 82.42 percent, while lifting accepted fidelity to 97.21 percent.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1:35–2:00 (25s)]</a:t>
            </a:r>
          </a:p>
          <a:p>
            <a:r>
              <a:t>Higher fidelity alone isn't always worth the cost. In our Strategy Rankings, checking both q0 and q1 reaches 99.09 percent fidelity, but ranks fifth because retention drops to 76.95 percent. A single check on q2 ranks first under our weighted harmonic score, and in Level 5, adding five checks collapses retention near 24 percent.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2:00–2:20 (20s)]</a:t>
            </a:r>
          </a:p>
          <a:p>
            <a:r>
              <a:t>Because qiskit-paulice targets Clifford circuits, we also built a separate T-gate sweep in the Analysis Lab. We dope circuits with up to 12 T and T-dagger gates to observe how non-Clifford operations affect noisy output fidelity, marking the boundary where standard Clifford syndrome checks stop.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 2:20–2:30 (10s)]</a:t>
            </a:r>
          </a:p>
          <a:p>
            <a:r>
              <a:t>Ultimately, quantum error detection is about balancing accepted result quality against lost shots and circuit overhead. Qubit Crown makes that trade-off interactive and measurable.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hyperlink" Target="https://gamma.app/?utm_source=made-with-gamma" TargetMode="External"/><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D174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D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777240"/>
            <a:ext cx="4663440" cy="320040"/>
          </a:xfrm>
          <a:prstGeom prst="rect">
            <a:avLst/>
          </a:prstGeom>
          <a:noFill/>
        </p:spPr>
        <p:txBody>
          <a:bodyPr wrap="square" anchor="t" lIns="0" tIns="0" rIns="0" bIns="0">
            <a:spAutoFit/>
          </a:bodyPr>
          <a:lstStyle/>
          <a:p>
            <a:r>
              <a:rPr sz="1250" b="1" i="0">
                <a:solidFill>
                  <a:srgbClr val="22D3EE"/>
                </a:solidFill>
                <a:latin typeface="Inter"/>
              </a:rPr>
              <a:t>QISKIT FALL FEST 2026  ·  ADVANCED TRACK</a:t>
            </a:r>
          </a:p>
        </p:txBody>
      </p:sp>
      <p:sp>
        <p:nvSpPr>
          <p:cNvPr id="5" name="TextBox 4"/>
          <p:cNvSpPr txBox="1"/>
          <p:nvPr/>
        </p:nvSpPr>
        <p:spPr>
          <a:xfrm>
            <a:off x="640080" y="1143000"/>
            <a:ext cx="4663440" cy="1783080"/>
          </a:xfrm>
          <a:prstGeom prst="rect">
            <a:avLst/>
          </a:prstGeom>
          <a:noFill/>
        </p:spPr>
        <p:txBody>
          <a:bodyPr wrap="square" anchor="t" lIns="0" tIns="0" rIns="0" bIns="0">
            <a:spAutoFit/>
          </a:bodyPr>
          <a:lstStyle/>
          <a:p>
            <a:pPr>
              <a:spcAft>
                <a:spcPts val="0"/>
              </a:spcAft>
            </a:pPr>
            <a:r>
              <a:rPr sz="5200" b="1" i="0">
                <a:solidFill>
                  <a:srgbClr val="F8FAFC"/>
                </a:solidFill>
                <a:latin typeface="Inter"/>
              </a:rPr>
              <a:t>QUBIT
</a:t>
            </a:r>
            <a:r>
              <a:rPr sz="5200" b="1" i="0">
                <a:solidFill>
                  <a:srgbClr val="22D3EE"/>
                </a:solidFill>
                <a:latin typeface="Inter"/>
              </a:rPr>
              <a:t>CROWN</a:t>
            </a:r>
          </a:p>
        </p:txBody>
      </p:sp>
      <p:sp>
        <p:nvSpPr>
          <p:cNvPr id="6" name="TextBox 5"/>
          <p:cNvSpPr txBox="1"/>
          <p:nvPr/>
        </p:nvSpPr>
        <p:spPr>
          <a:xfrm>
            <a:off x="640080" y="3063240"/>
            <a:ext cx="4526280" cy="822960"/>
          </a:xfrm>
          <a:prstGeom prst="rect">
            <a:avLst/>
          </a:prstGeom>
          <a:noFill/>
        </p:spPr>
        <p:txBody>
          <a:bodyPr wrap="square" anchor="t" lIns="0" tIns="0" rIns="0" bIns="0">
            <a:spAutoFit/>
          </a:bodyPr>
          <a:lstStyle/>
          <a:p>
            <a:r>
              <a:rPr sz="2000" b="0" i="0">
                <a:solidFill>
                  <a:srgbClr val="CBD5E1"/>
                </a:solidFill>
                <a:latin typeface="Inter"/>
              </a:rPr>
              <a:t>A strategy game for exploring
quantum error detection</a:t>
            </a:r>
          </a:p>
        </p:txBody>
      </p:sp>
      <p:sp>
        <p:nvSpPr>
          <p:cNvPr id="7" name="Rounded Rectangle 6"/>
          <p:cNvSpPr/>
          <p:nvPr/>
        </p:nvSpPr>
        <p:spPr>
          <a:xfrm>
            <a:off x="640080" y="4069080"/>
            <a:ext cx="4434840" cy="1051560"/>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40080" y="4069080"/>
            <a:ext cx="4434840"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22960" y="4224528"/>
            <a:ext cx="4069080" cy="804672"/>
          </a:xfrm>
          <a:prstGeom prst="rect">
            <a:avLst/>
          </a:prstGeom>
          <a:noFill/>
        </p:spPr>
        <p:txBody>
          <a:bodyPr wrap="square" anchor="t" lIns="0" tIns="0" rIns="0" bIns="0">
            <a:spAutoFit/>
          </a:bodyPr>
          <a:lstStyle/>
          <a:p>
            <a:pPr>
              <a:spcAft>
                <a:spcPts val="600"/>
              </a:spcAft>
            </a:pPr>
            <a:r>
              <a:rPr sz="1400" b="1" i="0">
                <a:solidFill>
                  <a:srgbClr val="94A3B8"/>
                </a:solidFill>
                <a:latin typeface="Inter"/>
              </a:rPr>
              <a:t>Team: </a:t>
            </a:r>
            <a:r>
              <a:rPr sz="1500" b="1" i="0">
                <a:solidFill>
                  <a:srgbClr val="F8FAFC"/>
                </a:solidFill>
                <a:latin typeface="Inter"/>
              </a:rPr>
              <a:t>Ayaan and Vivaan</a:t>
            </a:r>
          </a:p>
          <a:p>
            <a:r>
              <a:rPr sz="1300" b="1" i="0">
                <a:solidFill>
                  <a:srgbClr val="94A3B8"/>
                </a:solidFill>
                <a:latin typeface="Inter"/>
              </a:rPr>
              <a:t>Stack: </a:t>
            </a:r>
            <a:r>
              <a:rPr sz="1350" b="1" i="0">
                <a:solidFill>
                  <a:srgbClr val="22D3EE"/>
                </a:solidFill>
                <a:latin typeface="Inter"/>
              </a:rPr>
              <a:t>Qiskit · Qiskit Aer · qiskit-paulice</a:t>
            </a:r>
          </a:p>
        </p:txBody>
      </p:sp>
      <p:sp>
        <p:nvSpPr>
          <p:cNvPr id="10" name="Rounded Rectangle 9"/>
          <p:cNvSpPr/>
          <p:nvPr/>
        </p:nvSpPr>
        <p:spPr>
          <a:xfrm>
            <a:off x="640080" y="5349240"/>
            <a:ext cx="1371600" cy="402336"/>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640080" y="5349240"/>
            <a:ext cx="1371600"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13231" y="5440680"/>
            <a:ext cx="1225296" cy="256032"/>
          </a:xfrm>
          <a:prstGeom prst="rect">
            <a:avLst/>
          </a:prstGeom>
          <a:noFill/>
        </p:spPr>
        <p:txBody>
          <a:bodyPr wrap="square" anchor="t" lIns="0" tIns="0" rIns="0" bIns="0">
            <a:spAutoFit/>
          </a:bodyPr>
          <a:lstStyle/>
          <a:p>
            <a:pPr algn="ctr"/>
            <a:r>
              <a:rPr sz="1250" b="1" i="0">
                <a:solidFill>
                  <a:srgbClr val="22D3EE"/>
                </a:solidFill>
                <a:latin typeface="Inter"/>
              </a:rPr>
              <a:t>Fidelity</a:t>
            </a:r>
          </a:p>
        </p:txBody>
      </p:sp>
      <p:sp>
        <p:nvSpPr>
          <p:cNvPr id="13" name="Rounded Rectangle 12"/>
          <p:cNvSpPr/>
          <p:nvPr/>
        </p:nvSpPr>
        <p:spPr>
          <a:xfrm>
            <a:off x="2121408" y="5349240"/>
            <a:ext cx="1417320" cy="402336"/>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2121408" y="5349240"/>
            <a:ext cx="1417320"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194560" y="5440680"/>
            <a:ext cx="1271016" cy="256032"/>
          </a:xfrm>
          <a:prstGeom prst="rect">
            <a:avLst/>
          </a:prstGeom>
          <a:noFill/>
        </p:spPr>
        <p:txBody>
          <a:bodyPr wrap="square" anchor="t" lIns="0" tIns="0" rIns="0" bIns="0">
            <a:spAutoFit/>
          </a:bodyPr>
          <a:lstStyle/>
          <a:p>
            <a:pPr algn="ctr"/>
            <a:r>
              <a:rPr sz="1250" b="1" i="0">
                <a:solidFill>
                  <a:srgbClr val="A78BFA"/>
                </a:solidFill>
                <a:latin typeface="Inter"/>
              </a:rPr>
              <a:t>Retention</a:t>
            </a:r>
          </a:p>
        </p:txBody>
      </p:sp>
      <p:sp>
        <p:nvSpPr>
          <p:cNvPr id="16" name="Rounded Rectangle 15"/>
          <p:cNvSpPr/>
          <p:nvPr/>
        </p:nvSpPr>
        <p:spPr>
          <a:xfrm>
            <a:off x="3648456" y="5349240"/>
            <a:ext cx="1426464" cy="402336"/>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648456" y="5349240"/>
            <a:ext cx="1426464"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721608" y="5440680"/>
            <a:ext cx="1280160" cy="256032"/>
          </a:xfrm>
          <a:prstGeom prst="rect">
            <a:avLst/>
          </a:prstGeom>
          <a:noFill/>
        </p:spPr>
        <p:txBody>
          <a:bodyPr wrap="square" anchor="t" lIns="0" tIns="0" rIns="0" bIns="0">
            <a:spAutoFit/>
          </a:bodyPr>
          <a:lstStyle/>
          <a:p>
            <a:pPr algn="ctr"/>
            <a:r>
              <a:rPr sz="1250" b="1" i="0">
                <a:solidFill>
                  <a:srgbClr val="FB923C"/>
                </a:solidFill>
                <a:latin typeface="Inter"/>
              </a:rPr>
              <a:t>Overhead</a:t>
            </a:r>
          </a:p>
        </p:txBody>
      </p:sp>
      <p:sp>
        <p:nvSpPr>
          <p:cNvPr id="19" name="Rounded Rectangle 18"/>
          <p:cNvSpPr/>
          <p:nvPr/>
        </p:nvSpPr>
        <p:spPr>
          <a:xfrm>
            <a:off x="5303520" y="438912"/>
            <a:ext cx="6355080" cy="5852160"/>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crop_s1_menu.png"/>
          <p:cNvPicPr>
            <a:picLocks noChangeAspect="1"/>
          </p:cNvPicPr>
          <p:nvPr/>
        </p:nvPicPr>
        <p:blipFill>
          <a:blip r:embed="rId3"/>
          <a:stretch>
            <a:fillRect/>
          </a:stretch>
        </p:blipFill>
        <p:spPr>
          <a:xfrm>
            <a:off x="5413248" y="734070"/>
            <a:ext cx="6135624" cy="4914370"/>
          </a:xfrm>
          <a:prstGeom prst="rect">
            <a:avLst/>
          </a:prstGeom>
          <a:ln>
            <a:noFill/>
          </a:ln>
          <a:effectLst/>
        </p:spPr>
      </p:pic>
      <p:sp>
        <p:nvSpPr>
          <p:cNvPr id="21" name="TextBox 20"/>
          <p:cNvSpPr txBox="1"/>
          <p:nvPr/>
        </p:nvSpPr>
        <p:spPr>
          <a:xfrm>
            <a:off x="5440680" y="5925312"/>
            <a:ext cx="6080760" cy="292608"/>
          </a:xfrm>
          <a:prstGeom prst="rect">
            <a:avLst/>
          </a:prstGeom>
          <a:noFill/>
        </p:spPr>
        <p:txBody>
          <a:bodyPr wrap="square" anchor="t" lIns="0" tIns="0" rIns="0" bIns="0">
            <a:spAutoFit/>
          </a:bodyPr>
          <a:lstStyle/>
          <a:p>
            <a:pPr algn="ctr"/>
            <a:r>
              <a:rPr sz="1150" b="0" i="0">
                <a:solidFill>
                  <a:srgbClr val="94A3B8"/>
                </a:solidFill>
                <a:latin typeface="Inter"/>
              </a:rPr>
              <a:t>Live Qubit Crown main menu and Sector 01 tactical defense interface</a:t>
            </a:r>
          </a:p>
        </p:txBody>
      </p:sp>
      <p:sp>
        <p:nvSpPr>
          <p:cNvPr id="22" name="TextBox 21"/>
          <p:cNvSpPr txBox="1"/>
          <p:nvPr/>
        </p:nvSpPr>
        <p:spPr>
          <a:xfrm>
            <a:off x="594360" y="6510528"/>
            <a:ext cx="7772400" cy="256032"/>
          </a:xfrm>
          <a:prstGeom prst="rect">
            <a:avLst/>
          </a:prstGeom>
          <a:noFill/>
        </p:spPr>
        <p:txBody>
          <a:bodyPr wrap="square" anchor="t" lIns="0" tIns="0" rIns="0" bIns="0">
            <a:spAutoFit/>
          </a:bodyPr>
          <a:lstStyle/>
          <a:p>
            <a:r>
              <a:rPr sz="1050" b="0" i="0">
                <a:solidFill>
                  <a:srgbClr val="94A3B8"/>
                </a:solidFill>
                <a:latin typeface="Inter"/>
              </a:rPr>
              <a:t>Qubit Crown  ·  Qiskit Fall Fest 2026 (Advanced Track)</a:t>
            </a:r>
          </a:p>
        </p:txBody>
      </p:sp>
      <p:sp>
        <p:nvSpPr>
          <p:cNvPr id="23" name="TextBox 22"/>
          <p:cNvSpPr txBox="1"/>
          <p:nvPr/>
        </p:nvSpPr>
        <p:spPr>
          <a:xfrm>
            <a:off x="10241280" y="6510528"/>
            <a:ext cx="1353312" cy="256032"/>
          </a:xfrm>
          <a:prstGeom prst="rect">
            <a:avLst/>
          </a:prstGeom>
          <a:noFill/>
        </p:spPr>
        <p:txBody>
          <a:bodyPr wrap="square" anchor="t" lIns="0" tIns="0" rIns="0" bIns="0">
            <a:spAutoFit/>
          </a:bodyPr>
          <a:lstStyle/>
          <a:p>
            <a:pPr algn="r"/>
            <a:r>
              <a:rPr sz="1050" b="1" i="0">
                <a:solidFill>
                  <a:srgbClr val="94A3B8"/>
                </a:solidFill>
                <a:latin typeface="Inter"/>
              </a:rPr>
              <a:t>1 /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D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292608"/>
            <a:ext cx="8961120" cy="1143000"/>
          </a:xfrm>
          <a:prstGeom prst="rect">
            <a:avLst/>
          </a:prstGeom>
          <a:noFill/>
        </p:spPr>
        <p:txBody>
          <a:bodyPr wrap="square" anchor="t" lIns="0" tIns="0" rIns="0" bIns="0">
            <a:spAutoFit/>
          </a:bodyPr>
          <a:lstStyle/>
          <a:p>
            <a:pPr>
              <a:spcAft>
                <a:spcPts val="300"/>
              </a:spcAft>
            </a:pPr>
            <a:r>
              <a:rPr sz="1150" b="1" i="0">
                <a:solidFill>
                  <a:srgbClr val="22D3EE"/>
                </a:solidFill>
                <a:latin typeface="Inter"/>
              </a:rPr>
              <a:t>01 · THE CORE TRADE-OFF</a:t>
            </a:r>
          </a:p>
          <a:p>
            <a:pPr>
              <a:spcAft>
                <a:spcPts val="0"/>
              </a:spcAft>
            </a:pPr>
            <a:r>
              <a:rPr sz="2800" b="1" i="0">
                <a:solidFill>
                  <a:srgbClr val="F8FAFC"/>
                </a:solidFill>
                <a:latin typeface="Inter"/>
              </a:rPr>
              <a:t>Detecting errors comes at a cost.</a:t>
            </a:r>
          </a:p>
        </p:txBody>
      </p:sp>
      <p:sp>
        <p:nvSpPr>
          <p:cNvPr id="5" name="Rounded Rectangle 4"/>
          <p:cNvSpPr/>
          <p:nvPr/>
        </p:nvSpPr>
        <p:spPr>
          <a:xfrm>
            <a:off x="9646920" y="329184"/>
            <a:ext cx="1947672" cy="384048"/>
          </a:xfrm>
          <a:prstGeom prst="roundRect">
            <a:avLst>
              <a:gd name="adj" fmla="val 15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92640" y="393192"/>
            <a:ext cx="1856231" cy="274320"/>
          </a:xfrm>
          <a:prstGeom prst="rect">
            <a:avLst/>
          </a:prstGeom>
          <a:noFill/>
        </p:spPr>
        <p:txBody>
          <a:bodyPr wrap="square" anchor="t" lIns="0" tIns="0" rIns="0" bIns="0">
            <a:spAutoFit/>
          </a:bodyPr>
          <a:lstStyle/>
          <a:p>
            <a:pPr algn="ctr"/>
            <a:r>
              <a:rPr sz="1150" b="1" i="0">
                <a:solidFill>
                  <a:srgbClr val="22D3EE"/>
                </a:solidFill>
                <a:latin typeface="Inter"/>
              </a:rPr>
              <a:t>CONCEPTUAL MODEL</a:t>
            </a:r>
          </a:p>
        </p:txBody>
      </p:sp>
      <p:sp>
        <p:nvSpPr>
          <p:cNvPr id="7" name="Rounded Rectangle 6"/>
          <p:cNvSpPr/>
          <p:nvPr/>
        </p:nvSpPr>
        <p:spPr>
          <a:xfrm>
            <a:off x="594360" y="1371600"/>
            <a:ext cx="11000232" cy="749808"/>
          </a:xfrm>
          <a:prstGeom prst="roundRect">
            <a:avLst>
              <a:gd name="adj" fmla="val 4000"/>
            </a:avLst>
          </a:prstGeom>
          <a:solidFill>
            <a:srgbClr val="0D22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371600"/>
            <a:ext cx="11000232"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1508760"/>
            <a:ext cx="10607040" cy="530352"/>
          </a:xfrm>
          <a:prstGeom prst="rect">
            <a:avLst/>
          </a:prstGeom>
          <a:noFill/>
        </p:spPr>
        <p:txBody>
          <a:bodyPr wrap="square" anchor="t" lIns="0" tIns="0" rIns="0" bIns="0">
            <a:spAutoFit/>
          </a:bodyPr>
          <a:lstStyle/>
          <a:p>
            <a:r>
              <a:rPr sz="1550" b="1" i="0">
                <a:solidFill>
                  <a:srgbClr val="22D3EE"/>
                </a:solidFill>
                <a:latin typeface="Inter"/>
              </a:rPr>
              <a:t>Central Question: </a:t>
            </a:r>
            <a:r>
              <a:rPr sz="1550" b="1" i="0">
                <a:solidFill>
                  <a:srgbClr val="F8FAFC"/>
                </a:solidFill>
                <a:latin typeface="Inter"/>
              </a:rPr>
              <a:t>When does post-selection improve result quality enough to justify the shots and circuit resources it costs?</a:t>
            </a:r>
          </a:p>
        </p:txBody>
      </p:sp>
      <p:sp>
        <p:nvSpPr>
          <p:cNvPr id="10" name="Rounded Rectangle 9"/>
          <p:cNvSpPr/>
          <p:nvPr/>
        </p:nvSpPr>
        <p:spPr>
          <a:xfrm>
            <a:off x="594360" y="2267712"/>
            <a:ext cx="11000232" cy="1600200"/>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804672" y="2487168"/>
            <a:ext cx="2423160" cy="1152144"/>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804672" y="2487168"/>
            <a:ext cx="2423160"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14400" y="2596896"/>
            <a:ext cx="2203704" cy="960120"/>
          </a:xfrm>
          <a:prstGeom prst="rect">
            <a:avLst/>
          </a:prstGeom>
          <a:noFill/>
        </p:spPr>
        <p:txBody>
          <a:bodyPr wrap="square" anchor="t" lIns="0" tIns="0" rIns="0" bIns="0">
            <a:spAutoFit/>
          </a:bodyPr>
          <a:lstStyle/>
          <a:p>
            <a:pPr>
              <a:spcAft>
                <a:spcPts val="400"/>
              </a:spcAft>
            </a:pPr>
            <a:r>
              <a:rPr sz="1350" b="1" i="0">
                <a:solidFill>
                  <a:srgbClr val="FB923C"/>
                </a:solidFill>
                <a:latin typeface="Inter"/>
              </a:rPr>
              <a:t>1. Noisy Circuit + Checks</a:t>
            </a:r>
          </a:p>
          <a:p>
            <a:r>
              <a:rPr sz="1200" b="0" i="0">
                <a:solidFill>
                  <a:srgbClr val="CBD5E1"/>
                </a:solidFill>
                <a:latin typeface="Inter"/>
              </a:rPr>
              <a:t>Ancillas &amp; parity gates add depth and 2Q gate noise before measurement.</a:t>
            </a:r>
          </a:p>
        </p:txBody>
      </p:sp>
      <p:sp>
        <p:nvSpPr>
          <p:cNvPr id="14" name="TextBox 13"/>
          <p:cNvSpPr txBox="1"/>
          <p:nvPr/>
        </p:nvSpPr>
        <p:spPr>
          <a:xfrm>
            <a:off x="3273552" y="2880360"/>
            <a:ext cx="411480" cy="365760"/>
          </a:xfrm>
          <a:prstGeom prst="rect">
            <a:avLst/>
          </a:prstGeom>
          <a:noFill/>
        </p:spPr>
        <p:txBody>
          <a:bodyPr wrap="square" anchor="t" lIns="0" tIns="0" rIns="0" bIns="0">
            <a:spAutoFit/>
          </a:bodyPr>
          <a:lstStyle/>
          <a:p>
            <a:pPr algn="ctr"/>
            <a:r>
              <a:rPr sz="2200" b="1" i="0">
                <a:solidFill>
                  <a:srgbClr val="22D3EE"/>
                </a:solidFill>
                <a:latin typeface="Inter"/>
              </a:rPr>
              <a:t>→</a:t>
            </a:r>
          </a:p>
        </p:txBody>
      </p:sp>
      <p:sp>
        <p:nvSpPr>
          <p:cNvPr id="15" name="Rounded Rectangle 14"/>
          <p:cNvSpPr/>
          <p:nvPr/>
        </p:nvSpPr>
        <p:spPr>
          <a:xfrm>
            <a:off x="3730752" y="2487168"/>
            <a:ext cx="2331720" cy="1152144"/>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3730752" y="2487168"/>
            <a:ext cx="2331720"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840480" y="2596896"/>
            <a:ext cx="2112264" cy="960120"/>
          </a:xfrm>
          <a:prstGeom prst="rect">
            <a:avLst/>
          </a:prstGeom>
          <a:noFill/>
        </p:spPr>
        <p:txBody>
          <a:bodyPr wrap="square" anchor="t" lIns="0" tIns="0" rIns="0" bIns="0">
            <a:spAutoFit/>
          </a:bodyPr>
          <a:lstStyle/>
          <a:p>
            <a:pPr>
              <a:spcAft>
                <a:spcPts val="400"/>
              </a:spcAft>
            </a:pPr>
            <a:r>
              <a:rPr sz="1350" b="1" i="0">
                <a:solidFill>
                  <a:srgbClr val="22D3EE"/>
                </a:solidFill>
                <a:latin typeface="Inter"/>
              </a:rPr>
              <a:t>2. Syndrome Filter</a:t>
            </a:r>
          </a:p>
          <a:p>
            <a:r>
              <a:rPr sz="1200" b="0" i="0">
                <a:solidFill>
                  <a:srgbClr val="CBD5E1"/>
                </a:solidFill>
                <a:latin typeface="Inter"/>
              </a:rPr>
              <a:t>Ancilla outcomes classify each measurement shot as clean or flagged.</a:t>
            </a:r>
          </a:p>
        </p:txBody>
      </p:sp>
      <p:sp>
        <p:nvSpPr>
          <p:cNvPr id="18" name="TextBox 17"/>
          <p:cNvSpPr txBox="1"/>
          <p:nvPr/>
        </p:nvSpPr>
        <p:spPr>
          <a:xfrm>
            <a:off x="6108192" y="2542032"/>
            <a:ext cx="457200" cy="1051560"/>
          </a:xfrm>
          <a:prstGeom prst="rect">
            <a:avLst/>
          </a:prstGeom>
          <a:noFill/>
        </p:spPr>
        <p:txBody>
          <a:bodyPr wrap="square" anchor="t" lIns="0" tIns="0" rIns="0" bIns="0">
            <a:spAutoFit/>
          </a:bodyPr>
          <a:lstStyle/>
          <a:p>
            <a:pPr algn="ctr">
              <a:spcAft>
                <a:spcPts val="1400"/>
              </a:spcAft>
            </a:pPr>
            <a:r>
              <a:rPr sz="2000" b="1" i="0">
                <a:solidFill>
                  <a:srgbClr val="22D3EE"/>
                </a:solidFill>
                <a:latin typeface="Inter"/>
              </a:rPr>
              <a:t>↗</a:t>
            </a:r>
          </a:p>
          <a:p>
            <a:pPr algn="ctr"/>
            <a:r>
              <a:rPr sz="2000" b="1" i="0">
                <a:solidFill>
                  <a:srgbClr val="FB923C"/>
                </a:solidFill>
                <a:latin typeface="Inter"/>
              </a:rPr>
              <a:t>↘</a:t>
            </a:r>
          </a:p>
        </p:txBody>
      </p:sp>
      <p:sp>
        <p:nvSpPr>
          <p:cNvPr id="19" name="Rounded Rectangle 18"/>
          <p:cNvSpPr/>
          <p:nvPr/>
        </p:nvSpPr>
        <p:spPr>
          <a:xfrm>
            <a:off x="6601968" y="2395728"/>
            <a:ext cx="4791456" cy="621792"/>
          </a:xfrm>
          <a:prstGeom prst="roundRect">
            <a:avLst>
              <a:gd name="adj" fmla="val 4000"/>
            </a:avLst>
          </a:prstGeom>
          <a:solidFill>
            <a:srgbClr val="0D22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601968" y="2395728"/>
            <a:ext cx="4791456"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748272" y="2478024"/>
            <a:ext cx="4526280" cy="475488"/>
          </a:xfrm>
          <a:prstGeom prst="rect">
            <a:avLst/>
          </a:prstGeom>
          <a:noFill/>
        </p:spPr>
        <p:txBody>
          <a:bodyPr wrap="square" anchor="t" lIns="0" tIns="0" rIns="0" bIns="0">
            <a:spAutoFit/>
          </a:bodyPr>
          <a:lstStyle/>
          <a:p>
            <a:r>
              <a:rPr sz="1300" b="1" i="0">
                <a:solidFill>
                  <a:srgbClr val="22D3EE"/>
                </a:solidFill>
                <a:latin typeface="Inter"/>
              </a:rPr>
              <a:t>Accepted Shots (Kept): </a:t>
            </a:r>
            <a:r>
              <a:rPr sz="1200" b="0" i="0">
                <a:solidFill>
                  <a:srgbClr val="F8FAFC"/>
                </a:solidFill>
                <a:latin typeface="Inter"/>
              </a:rPr>
              <a:t>Evaluated for Post-Selected Fidelity (F)  ·  Yield R = N_acc / N_total</a:t>
            </a:r>
          </a:p>
        </p:txBody>
      </p:sp>
      <p:sp>
        <p:nvSpPr>
          <p:cNvPr id="22" name="Rounded Rectangle 21"/>
          <p:cNvSpPr/>
          <p:nvPr/>
        </p:nvSpPr>
        <p:spPr>
          <a:xfrm>
            <a:off x="6601968" y="3127248"/>
            <a:ext cx="4791456" cy="621792"/>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601968" y="3127248"/>
            <a:ext cx="4791456"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748272" y="3209544"/>
            <a:ext cx="4526280" cy="475488"/>
          </a:xfrm>
          <a:prstGeom prst="rect">
            <a:avLst/>
          </a:prstGeom>
          <a:noFill/>
        </p:spPr>
        <p:txBody>
          <a:bodyPr wrap="square" anchor="t" lIns="0" tIns="0" rIns="0" bIns="0">
            <a:spAutoFit/>
          </a:bodyPr>
          <a:lstStyle/>
          <a:p>
            <a:r>
              <a:rPr sz="1300" b="1" i="0">
                <a:solidFill>
                  <a:srgbClr val="FB923C"/>
                </a:solidFill>
                <a:latin typeface="Inter"/>
              </a:rPr>
              <a:t>Rejected Shots (Discarded): </a:t>
            </a:r>
            <a:r>
              <a:rPr sz="1200" b="0" i="0">
                <a:solidFill>
                  <a:srgbClr val="CBD5E1"/>
                </a:solidFill>
                <a:latin typeface="Inter"/>
              </a:rPr>
              <a:t>Thrown away — post-selection does NOT correct errors in flight.</a:t>
            </a:r>
          </a:p>
        </p:txBody>
      </p:sp>
      <p:sp>
        <p:nvSpPr>
          <p:cNvPr id="25" name="Rounded Rectangle 24"/>
          <p:cNvSpPr/>
          <p:nvPr/>
        </p:nvSpPr>
        <p:spPr>
          <a:xfrm>
            <a:off x="594360" y="4041648"/>
            <a:ext cx="3483864" cy="2286000"/>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594360" y="4041648"/>
            <a:ext cx="3483864"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95528" y="4187952"/>
            <a:ext cx="3081528" cy="2029968"/>
          </a:xfrm>
          <a:prstGeom prst="rect">
            <a:avLst/>
          </a:prstGeom>
          <a:noFill/>
        </p:spPr>
        <p:txBody>
          <a:bodyPr wrap="square" anchor="t" lIns="0" tIns="0" rIns="0" bIns="0">
            <a:spAutoFit/>
          </a:bodyPr>
          <a:lstStyle/>
          <a:p>
            <a:pPr>
              <a:spcAft>
                <a:spcPts val="200"/>
              </a:spcAft>
            </a:pPr>
            <a:r>
              <a:rPr sz="1700" b="1" i="0">
                <a:solidFill>
                  <a:srgbClr val="22D3EE"/>
                </a:solidFill>
                <a:latin typeface="Inter"/>
              </a:rPr>
              <a:t>1. Fidelity (F)</a:t>
            </a:r>
          </a:p>
          <a:p>
            <a:pPr>
              <a:spcAft>
                <a:spcPts val="800"/>
              </a:spcAft>
            </a:pPr>
            <a:r>
              <a:rPr sz="1200" b="1" i="0">
                <a:solidFill>
                  <a:srgbClr val="F8FAFC"/>
                </a:solidFill>
                <a:latin typeface="Inter"/>
              </a:rPr>
              <a:t>Result Quality</a:t>
            </a:r>
          </a:p>
          <a:p>
            <a:r>
              <a:rPr sz="1220" b="0" i="0">
                <a:solidFill>
                  <a:srgbClr val="CBD5E1"/>
                </a:solidFill>
                <a:latin typeface="Inter"/>
              </a:rPr>
              <a:t>How closely the observed output distribution matches the ideal reference:
• Raw fidelity: before filtering.
• Post-selected: over accepted shots.
• Checks can lower fidelity if gate noise dominates.</a:t>
            </a:r>
          </a:p>
        </p:txBody>
      </p:sp>
      <p:sp>
        <p:nvSpPr>
          <p:cNvPr id="28" name="Rounded Rectangle 27"/>
          <p:cNvSpPr/>
          <p:nvPr/>
        </p:nvSpPr>
        <p:spPr>
          <a:xfrm>
            <a:off x="4352544" y="4041648"/>
            <a:ext cx="3483864" cy="2286000"/>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4352544" y="4041648"/>
            <a:ext cx="3483864"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553712" y="4187952"/>
            <a:ext cx="3081528" cy="2029968"/>
          </a:xfrm>
          <a:prstGeom prst="rect">
            <a:avLst/>
          </a:prstGeom>
          <a:noFill/>
        </p:spPr>
        <p:txBody>
          <a:bodyPr wrap="square" anchor="t" lIns="0" tIns="0" rIns="0" bIns="0">
            <a:spAutoFit/>
          </a:bodyPr>
          <a:lstStyle/>
          <a:p>
            <a:pPr>
              <a:spcAft>
                <a:spcPts val="200"/>
              </a:spcAft>
            </a:pPr>
            <a:r>
              <a:rPr sz="1700" b="1" i="0">
                <a:solidFill>
                  <a:srgbClr val="A78BFA"/>
                </a:solidFill>
                <a:latin typeface="Inter"/>
              </a:rPr>
              <a:t>2. Shot Retention (R)</a:t>
            </a:r>
          </a:p>
          <a:p>
            <a:pPr>
              <a:spcAft>
                <a:spcPts val="800"/>
              </a:spcAft>
            </a:pPr>
            <a:r>
              <a:rPr sz="1200" b="1" i="0">
                <a:solidFill>
                  <a:srgbClr val="F8FAFC"/>
                </a:solidFill>
                <a:latin typeface="Inter"/>
              </a:rPr>
              <a:t>R = accepted / total shots</a:t>
            </a:r>
          </a:p>
          <a:p>
            <a:r>
              <a:rPr sz="1220" b="0" i="0">
                <a:solidFill>
                  <a:srgbClr val="CBD5E1"/>
                </a:solidFill>
                <a:latin typeface="Inter"/>
              </a:rPr>
              <a:t>The fraction of total measurement shots surviving post-selection:
• Every flagged shot is discarded.
• Stricter checks reject more runs, reducing usable sample yield.</a:t>
            </a:r>
          </a:p>
        </p:txBody>
      </p:sp>
      <p:sp>
        <p:nvSpPr>
          <p:cNvPr id="31" name="Rounded Rectangle 30"/>
          <p:cNvSpPr/>
          <p:nvPr/>
        </p:nvSpPr>
        <p:spPr>
          <a:xfrm>
            <a:off x="8110728" y="4041648"/>
            <a:ext cx="3483864" cy="2286000"/>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8110728" y="4041648"/>
            <a:ext cx="3483864"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8311896" y="4187952"/>
            <a:ext cx="3081528" cy="2029968"/>
          </a:xfrm>
          <a:prstGeom prst="rect">
            <a:avLst/>
          </a:prstGeom>
          <a:noFill/>
        </p:spPr>
        <p:txBody>
          <a:bodyPr wrap="square" anchor="t" lIns="0" tIns="0" rIns="0" bIns="0">
            <a:spAutoFit/>
          </a:bodyPr>
          <a:lstStyle/>
          <a:p>
            <a:pPr>
              <a:spcAft>
                <a:spcPts val="200"/>
              </a:spcAft>
            </a:pPr>
            <a:r>
              <a:rPr sz="1700" b="1" i="0">
                <a:solidFill>
                  <a:srgbClr val="FB923C"/>
                </a:solidFill>
                <a:latin typeface="Inter"/>
              </a:rPr>
              <a:t>3. Circuit Overhead</a:t>
            </a:r>
          </a:p>
          <a:p>
            <a:pPr>
              <a:spcAft>
                <a:spcPts val="800"/>
              </a:spcAft>
            </a:pPr>
            <a:r>
              <a:rPr sz="1200" b="1" i="0">
                <a:solidFill>
                  <a:srgbClr val="F8FAFC"/>
                </a:solidFill>
                <a:latin typeface="Inter"/>
              </a:rPr>
              <a:t>Added Hardware Cost</a:t>
            </a:r>
          </a:p>
          <a:p>
            <a:r>
              <a:rPr sz="1220" b="0" i="0">
                <a:solidFill>
                  <a:srgbClr val="CBD5E1"/>
                </a:solidFill>
                <a:latin typeface="Inter"/>
              </a:rPr>
              <a:t>Extra circuit resources required to implement syndrome checks:
• Ancilla qubits added to the register.
• Extra two-qubit entangling gates.
• Deeper circuits and added decoherence.</a:t>
            </a:r>
          </a:p>
        </p:txBody>
      </p:sp>
      <p:sp>
        <p:nvSpPr>
          <p:cNvPr id="34" name="TextBox 33"/>
          <p:cNvSpPr txBox="1"/>
          <p:nvPr/>
        </p:nvSpPr>
        <p:spPr>
          <a:xfrm>
            <a:off x="594360" y="6510528"/>
            <a:ext cx="7772400" cy="256032"/>
          </a:xfrm>
          <a:prstGeom prst="rect">
            <a:avLst/>
          </a:prstGeom>
          <a:noFill/>
        </p:spPr>
        <p:txBody>
          <a:bodyPr wrap="square" anchor="t" lIns="0" tIns="0" rIns="0" bIns="0">
            <a:spAutoFit/>
          </a:bodyPr>
          <a:lstStyle/>
          <a:p>
            <a:r>
              <a:rPr sz="1050" b="0" i="0">
                <a:solidFill>
                  <a:srgbClr val="94A3B8"/>
                </a:solidFill>
                <a:latin typeface="Inter"/>
              </a:rPr>
              <a:t>Qubit Crown  ·  Qiskit Fall Fest 2026 (Advanced Track)</a:t>
            </a:r>
          </a:p>
        </p:txBody>
      </p:sp>
      <p:sp>
        <p:nvSpPr>
          <p:cNvPr id="35" name="TextBox 34"/>
          <p:cNvSpPr txBox="1"/>
          <p:nvPr/>
        </p:nvSpPr>
        <p:spPr>
          <a:xfrm>
            <a:off x="10241280" y="6510528"/>
            <a:ext cx="1353312" cy="256032"/>
          </a:xfrm>
          <a:prstGeom prst="rect">
            <a:avLst/>
          </a:prstGeom>
          <a:noFill/>
        </p:spPr>
        <p:txBody>
          <a:bodyPr wrap="square" anchor="t" lIns="0" tIns="0" rIns="0" bIns="0">
            <a:spAutoFit/>
          </a:bodyPr>
          <a:lstStyle/>
          <a:p>
            <a:pPr algn="r"/>
            <a:r>
              <a:rPr sz="1050" b="1" i="0">
                <a:solidFill>
                  <a:srgbClr val="94A3B8"/>
                </a:solidFill>
                <a:latin typeface="Inter"/>
              </a:rPr>
              <a:t>2 / 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D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292608"/>
            <a:ext cx="8961120" cy="1143000"/>
          </a:xfrm>
          <a:prstGeom prst="rect">
            <a:avLst/>
          </a:prstGeom>
          <a:noFill/>
        </p:spPr>
        <p:txBody>
          <a:bodyPr wrap="square" anchor="t" lIns="0" tIns="0" rIns="0" bIns="0">
            <a:spAutoFit/>
          </a:bodyPr>
          <a:lstStyle/>
          <a:p>
            <a:pPr>
              <a:spcAft>
                <a:spcPts val="300"/>
              </a:spcAft>
            </a:pPr>
            <a:r>
              <a:rPr sz="1150" b="1" i="0">
                <a:solidFill>
                  <a:srgbClr val="22D3EE"/>
                </a:solidFill>
                <a:latin typeface="Inter"/>
              </a:rPr>
              <a:t>02 · INTERACTIVE CAMPAIGN &amp; USER WORKFLOW</a:t>
            </a:r>
          </a:p>
          <a:p>
            <a:pPr>
              <a:spcAft>
                <a:spcPts val="300"/>
              </a:spcAft>
            </a:pPr>
            <a:r>
              <a:rPr sz="2800" b="1" i="0">
                <a:solidFill>
                  <a:srgbClr val="F8FAFC"/>
                </a:solidFill>
                <a:latin typeface="Inter"/>
              </a:rPr>
              <a:t>Turn error detection into a strategy.</a:t>
            </a:r>
          </a:p>
          <a:p>
            <a:r>
              <a:rPr sz="1350" b="0" i="0">
                <a:solidFill>
                  <a:srgbClr val="CBD5E1"/>
                </a:solidFill>
                <a:latin typeface="Inter"/>
              </a:rPr>
              <a:t>Players progress through five campaign sectors, allocate checks within a budget, and test strategies under noise.</a:t>
            </a:r>
          </a:p>
        </p:txBody>
      </p:sp>
      <p:sp>
        <p:nvSpPr>
          <p:cNvPr id="5" name="Rounded Rectangle 4"/>
          <p:cNvSpPr/>
          <p:nvPr/>
        </p:nvSpPr>
        <p:spPr>
          <a:xfrm>
            <a:off x="9646920" y="329184"/>
            <a:ext cx="1947672" cy="384048"/>
          </a:xfrm>
          <a:prstGeom prst="roundRect">
            <a:avLst>
              <a:gd name="adj" fmla="val 15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92640" y="393192"/>
            <a:ext cx="1856231" cy="274320"/>
          </a:xfrm>
          <a:prstGeom prst="rect">
            <a:avLst/>
          </a:prstGeom>
          <a:noFill/>
        </p:spPr>
        <p:txBody>
          <a:bodyPr wrap="square" anchor="t" lIns="0" tIns="0" rIns="0" bIns="0">
            <a:spAutoFit/>
          </a:bodyPr>
          <a:lstStyle/>
          <a:p>
            <a:pPr algn="ctr"/>
            <a:r>
              <a:rPr sz="1150" b="1" i="0">
                <a:solidFill>
                  <a:srgbClr val="22D3EE"/>
                </a:solidFill>
                <a:latin typeface="Inter"/>
              </a:rPr>
              <a:t>GAMEPLAY LOOP</a:t>
            </a:r>
          </a:p>
        </p:txBody>
      </p:sp>
      <p:sp>
        <p:nvSpPr>
          <p:cNvPr id="7" name="Rounded Rectangle 6"/>
          <p:cNvSpPr/>
          <p:nvPr/>
        </p:nvSpPr>
        <p:spPr>
          <a:xfrm>
            <a:off x="594360" y="1600200"/>
            <a:ext cx="3483864" cy="349300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600200"/>
            <a:ext cx="3483864"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0664" y="1700784"/>
            <a:ext cx="3191256" cy="274320"/>
          </a:xfrm>
          <a:prstGeom prst="rect">
            <a:avLst/>
          </a:prstGeom>
          <a:noFill/>
        </p:spPr>
        <p:txBody>
          <a:bodyPr wrap="square" anchor="t" lIns="0" tIns="0" rIns="0" bIns="0">
            <a:spAutoFit/>
          </a:bodyPr>
          <a:lstStyle/>
          <a:p>
            <a:r>
              <a:rPr sz="1150" b="1" i="0">
                <a:solidFill>
                  <a:srgbClr val="22D3EE"/>
                </a:solidFill>
                <a:latin typeface="Inter"/>
              </a:rPr>
              <a:t>STAGE 1 · CAMPAIGN &amp; LEVEL SELECT</a:t>
            </a:r>
          </a:p>
        </p:txBody>
      </p:sp>
      <p:pic>
        <p:nvPicPr>
          <p:cNvPr id="10" name="Picture 9" descr="crop_s3_campaign.png"/>
          <p:cNvPicPr>
            <a:picLocks noChangeAspect="1"/>
          </p:cNvPicPr>
          <p:nvPr/>
        </p:nvPicPr>
        <p:blipFill>
          <a:blip r:embed="rId3"/>
          <a:stretch>
            <a:fillRect/>
          </a:stretch>
        </p:blipFill>
        <p:spPr>
          <a:xfrm>
            <a:off x="722376" y="2177952"/>
            <a:ext cx="3227832" cy="2246062"/>
          </a:xfrm>
          <a:prstGeom prst="rect">
            <a:avLst/>
          </a:prstGeom>
          <a:ln>
            <a:noFill/>
          </a:ln>
          <a:effectLst/>
        </p:spPr>
      </p:pic>
      <p:sp>
        <p:nvSpPr>
          <p:cNvPr id="11" name="TextBox 10"/>
          <p:cNvSpPr txBox="1"/>
          <p:nvPr/>
        </p:nvSpPr>
        <p:spPr>
          <a:xfrm>
            <a:off x="740664" y="4645152"/>
            <a:ext cx="3191256" cy="402336"/>
          </a:xfrm>
          <a:prstGeom prst="rect">
            <a:avLst/>
          </a:prstGeom>
          <a:noFill/>
        </p:spPr>
        <p:txBody>
          <a:bodyPr wrap="square" anchor="t" lIns="0" tIns="0" rIns="0" bIns="0">
            <a:spAutoFit/>
          </a:bodyPr>
          <a:lstStyle/>
          <a:p>
            <a:r>
              <a:rPr sz="1120" b="0" i="0">
                <a:solidFill>
                  <a:srgbClr val="CBD5E1"/>
                </a:solidFill>
                <a:latin typeface="Inter"/>
              </a:rPr>
              <a:t>5 progressive sectors · 2,048 shots · Guided, Standard &amp; Full Challenge tracks</a:t>
            </a:r>
          </a:p>
        </p:txBody>
      </p:sp>
      <p:sp>
        <p:nvSpPr>
          <p:cNvPr id="12" name="Rounded Rectangle 11"/>
          <p:cNvSpPr/>
          <p:nvPr/>
        </p:nvSpPr>
        <p:spPr>
          <a:xfrm>
            <a:off x="4352544" y="1600200"/>
            <a:ext cx="3483864" cy="349300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352544" y="1600200"/>
            <a:ext cx="3483864"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498848" y="1700784"/>
            <a:ext cx="3191256" cy="274320"/>
          </a:xfrm>
          <a:prstGeom prst="rect">
            <a:avLst/>
          </a:prstGeom>
          <a:noFill/>
        </p:spPr>
        <p:txBody>
          <a:bodyPr wrap="square" anchor="t" lIns="0" tIns="0" rIns="0" bIns="0">
            <a:spAutoFit/>
          </a:bodyPr>
          <a:lstStyle/>
          <a:p>
            <a:r>
              <a:rPr sz="1150" b="1" i="0">
                <a:solidFill>
                  <a:srgbClr val="A78BFA"/>
                </a:solidFill>
                <a:latin typeface="Inter"/>
              </a:rPr>
              <a:t>STAGE 2 · TARGET QUBIT ALLOCATION</a:t>
            </a:r>
          </a:p>
        </p:txBody>
      </p:sp>
      <p:pic>
        <p:nvPicPr>
          <p:cNvPr id="15" name="Picture 14" descr="crop_s3_gameplay.png"/>
          <p:cNvPicPr>
            <a:picLocks noChangeAspect="1"/>
          </p:cNvPicPr>
          <p:nvPr/>
        </p:nvPicPr>
        <p:blipFill>
          <a:blip r:embed="rId4"/>
          <a:stretch>
            <a:fillRect/>
          </a:stretch>
        </p:blipFill>
        <p:spPr>
          <a:xfrm>
            <a:off x="4480560" y="2415206"/>
            <a:ext cx="3227832" cy="1771554"/>
          </a:xfrm>
          <a:prstGeom prst="rect">
            <a:avLst/>
          </a:prstGeom>
          <a:ln>
            <a:noFill/>
          </a:ln>
          <a:effectLst/>
        </p:spPr>
      </p:pic>
      <p:sp>
        <p:nvSpPr>
          <p:cNvPr id="16" name="TextBox 15"/>
          <p:cNvSpPr txBox="1"/>
          <p:nvPr/>
        </p:nvSpPr>
        <p:spPr>
          <a:xfrm>
            <a:off x="4498848" y="4645152"/>
            <a:ext cx="3191256" cy="402336"/>
          </a:xfrm>
          <a:prstGeom prst="rect">
            <a:avLst/>
          </a:prstGeom>
          <a:noFill/>
        </p:spPr>
        <p:txBody>
          <a:bodyPr wrap="square" anchor="t" lIns="0" tIns="0" rIns="0" bIns="0">
            <a:spAutoFit/>
          </a:bodyPr>
          <a:lstStyle/>
          <a:p>
            <a:r>
              <a:rPr sz="1120" b="0" i="0">
                <a:solidFill>
                  <a:srgbClr val="CBD5E1"/>
                </a:solidFill>
                <a:latin typeface="Inter"/>
              </a:rPr>
              <a:t>Level 1 Outpost Sector (3 data qubits, 4 layers) with q0 spacetime check armed</a:t>
            </a:r>
          </a:p>
        </p:txBody>
      </p:sp>
      <p:sp>
        <p:nvSpPr>
          <p:cNvPr id="17" name="Rounded Rectangle 16"/>
          <p:cNvSpPr/>
          <p:nvPr/>
        </p:nvSpPr>
        <p:spPr>
          <a:xfrm>
            <a:off x="8110728" y="1600200"/>
            <a:ext cx="3483864" cy="349300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8110728" y="1600200"/>
            <a:ext cx="3483864" cy="45720"/>
          </a:xfrm>
          <a:prstGeom prst="rect">
            <a:avLst/>
          </a:prstGeom>
          <a:solidFill>
            <a:srgbClr val="34D3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257032" y="1700784"/>
            <a:ext cx="3191256" cy="274320"/>
          </a:xfrm>
          <a:prstGeom prst="rect">
            <a:avLst/>
          </a:prstGeom>
          <a:noFill/>
        </p:spPr>
        <p:txBody>
          <a:bodyPr wrap="square" anchor="t" lIns="0" tIns="0" rIns="0" bIns="0">
            <a:spAutoFit/>
          </a:bodyPr>
          <a:lstStyle/>
          <a:p>
            <a:r>
              <a:rPr sz="1150" b="1" i="0">
                <a:solidFill>
                  <a:srgbClr val="34D399"/>
                </a:solidFill>
                <a:latin typeface="Inter"/>
              </a:rPr>
              <a:t>STAGE 3 · TELEMETRY &amp; EVALUATION</a:t>
            </a:r>
          </a:p>
        </p:txBody>
      </p:sp>
      <p:pic>
        <p:nvPicPr>
          <p:cNvPr id="20" name="Picture 19" descr="crop_s5_debrief.png"/>
          <p:cNvPicPr>
            <a:picLocks noChangeAspect="1"/>
          </p:cNvPicPr>
          <p:nvPr/>
        </p:nvPicPr>
        <p:blipFill>
          <a:blip r:embed="rId5"/>
          <a:stretch>
            <a:fillRect/>
          </a:stretch>
        </p:blipFill>
        <p:spPr>
          <a:xfrm>
            <a:off x="8238744" y="2620522"/>
            <a:ext cx="3227832" cy="1360923"/>
          </a:xfrm>
          <a:prstGeom prst="rect">
            <a:avLst/>
          </a:prstGeom>
          <a:ln>
            <a:noFill/>
          </a:ln>
          <a:effectLst/>
        </p:spPr>
      </p:pic>
      <p:sp>
        <p:nvSpPr>
          <p:cNvPr id="21" name="TextBox 20"/>
          <p:cNvSpPr txBox="1"/>
          <p:nvPr/>
        </p:nvSpPr>
        <p:spPr>
          <a:xfrm>
            <a:off x="8257032" y="4645152"/>
            <a:ext cx="3191256" cy="402336"/>
          </a:xfrm>
          <a:prstGeom prst="rect">
            <a:avLst/>
          </a:prstGeom>
          <a:noFill/>
        </p:spPr>
        <p:txBody>
          <a:bodyPr wrap="square" anchor="t" lIns="0" tIns="0" rIns="0" bIns="0">
            <a:spAutoFit/>
          </a:bodyPr>
          <a:lstStyle/>
          <a:p>
            <a:r>
              <a:rPr sz="1120" b="0" i="0">
                <a:solidFill>
                  <a:srgbClr val="CBD5E1"/>
                </a:solidFill>
                <a:latin typeface="Inter"/>
              </a:rPr>
              <a:t>Immediate debrief: 97.21% post-selected fidelity, 82.42% retention, PASS</a:t>
            </a:r>
          </a:p>
        </p:txBody>
      </p:sp>
      <p:sp>
        <p:nvSpPr>
          <p:cNvPr id="22" name="Rounded Rectangle 21"/>
          <p:cNvSpPr/>
          <p:nvPr/>
        </p:nvSpPr>
        <p:spPr>
          <a:xfrm>
            <a:off x="594360" y="5248656"/>
            <a:ext cx="2112264" cy="1078992"/>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594360" y="5248656"/>
            <a:ext cx="2112264"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5358384"/>
            <a:ext cx="1856232" cy="896112"/>
          </a:xfrm>
          <a:prstGeom prst="rect">
            <a:avLst/>
          </a:prstGeom>
          <a:noFill/>
        </p:spPr>
        <p:txBody>
          <a:bodyPr wrap="square" anchor="t" lIns="0" tIns="0" rIns="0" bIns="0">
            <a:spAutoFit/>
          </a:bodyPr>
          <a:lstStyle/>
          <a:p>
            <a:pPr>
              <a:spcAft>
                <a:spcPts val="400"/>
              </a:spcAft>
            </a:pPr>
            <a:r>
              <a:rPr sz="1280" b="1" i="0">
                <a:solidFill>
                  <a:srgbClr val="22D3EE"/>
                </a:solidFill>
                <a:latin typeface="Inter"/>
              </a:rPr>
              <a:t>01 · Choose Level</a:t>
            </a:r>
          </a:p>
          <a:p>
            <a:r>
              <a:rPr sz="1120" b="0" i="0">
                <a:solidFill>
                  <a:srgbClr val="CBD5E1"/>
                </a:solidFill>
                <a:latin typeface="Inter"/>
              </a:rPr>
              <a:t>Select sector, difficulty preset &amp; 2,048-shot config</a:t>
            </a:r>
          </a:p>
        </p:txBody>
      </p:sp>
      <p:sp>
        <p:nvSpPr>
          <p:cNvPr id="25" name="Rounded Rectangle 24"/>
          <p:cNvSpPr/>
          <p:nvPr/>
        </p:nvSpPr>
        <p:spPr>
          <a:xfrm>
            <a:off x="2834640" y="5248656"/>
            <a:ext cx="2112264" cy="1078992"/>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2834640" y="5248656"/>
            <a:ext cx="2112264"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2962656" y="5358384"/>
            <a:ext cx="1856232" cy="896112"/>
          </a:xfrm>
          <a:prstGeom prst="rect">
            <a:avLst/>
          </a:prstGeom>
          <a:noFill/>
        </p:spPr>
        <p:txBody>
          <a:bodyPr wrap="square" anchor="t" lIns="0" tIns="0" rIns="0" bIns="0">
            <a:spAutoFit/>
          </a:bodyPr>
          <a:lstStyle/>
          <a:p>
            <a:pPr>
              <a:spcAft>
                <a:spcPts val="400"/>
              </a:spcAft>
            </a:pPr>
            <a:r>
              <a:rPr sz="1280" b="1" i="0">
                <a:solidFill>
                  <a:srgbClr val="A78BFA"/>
                </a:solidFill>
                <a:latin typeface="Inter"/>
              </a:rPr>
              <a:t>02 · Select Qubits</a:t>
            </a:r>
          </a:p>
          <a:p>
            <a:r>
              <a:rPr sz="1120" b="0" i="0">
                <a:solidFill>
                  <a:srgbClr val="CBD5E1"/>
                </a:solidFill>
                <a:latin typeface="Inter"/>
              </a:rPr>
              <a:t>Arm spacetime Pauli checks within check budget</a:t>
            </a:r>
          </a:p>
        </p:txBody>
      </p:sp>
      <p:sp>
        <p:nvSpPr>
          <p:cNvPr id="28" name="Rounded Rectangle 27"/>
          <p:cNvSpPr/>
          <p:nvPr/>
        </p:nvSpPr>
        <p:spPr>
          <a:xfrm>
            <a:off x="5074920" y="5248656"/>
            <a:ext cx="2112264" cy="1078992"/>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5074920" y="5248656"/>
            <a:ext cx="2112264"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202936" y="5358384"/>
            <a:ext cx="1856232" cy="896112"/>
          </a:xfrm>
          <a:prstGeom prst="rect">
            <a:avLst/>
          </a:prstGeom>
          <a:noFill/>
        </p:spPr>
        <p:txBody>
          <a:bodyPr wrap="square" anchor="t" lIns="0" tIns="0" rIns="0" bIns="0">
            <a:spAutoFit/>
          </a:bodyPr>
          <a:lstStyle/>
          <a:p>
            <a:pPr>
              <a:spcAft>
                <a:spcPts val="400"/>
              </a:spcAft>
            </a:pPr>
            <a:r>
              <a:rPr sz="1280" b="1" i="0">
                <a:solidFill>
                  <a:srgbClr val="FB923C"/>
                </a:solidFill>
                <a:latin typeface="Inter"/>
              </a:rPr>
              <a:t>03 · Simulate Shots</a:t>
            </a:r>
          </a:p>
          <a:p>
            <a:r>
              <a:rPr sz="1120" b="0" i="0">
                <a:solidFill>
                  <a:srgbClr val="CBD5E1"/>
                </a:solidFill>
                <a:latin typeface="Inter"/>
              </a:rPr>
              <a:t>Execute noisy circuit runs in Qiskit Aer</a:t>
            </a:r>
          </a:p>
        </p:txBody>
      </p:sp>
      <p:sp>
        <p:nvSpPr>
          <p:cNvPr id="31" name="Rounded Rectangle 30"/>
          <p:cNvSpPr/>
          <p:nvPr/>
        </p:nvSpPr>
        <p:spPr>
          <a:xfrm>
            <a:off x="7315200" y="5248656"/>
            <a:ext cx="2112264" cy="1078992"/>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ectangle 31"/>
          <p:cNvSpPr/>
          <p:nvPr/>
        </p:nvSpPr>
        <p:spPr>
          <a:xfrm>
            <a:off x="7315200" y="5248656"/>
            <a:ext cx="2112264"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43216" y="5358384"/>
            <a:ext cx="1856232" cy="896112"/>
          </a:xfrm>
          <a:prstGeom prst="rect">
            <a:avLst/>
          </a:prstGeom>
          <a:noFill/>
        </p:spPr>
        <p:txBody>
          <a:bodyPr wrap="square" anchor="t" lIns="0" tIns="0" rIns="0" bIns="0">
            <a:spAutoFit/>
          </a:bodyPr>
          <a:lstStyle/>
          <a:p>
            <a:pPr>
              <a:spcAft>
                <a:spcPts val="400"/>
              </a:spcAft>
            </a:pPr>
            <a:r>
              <a:rPr sz="1280" b="1" i="0">
                <a:solidFill>
                  <a:srgbClr val="22D3EE"/>
                </a:solidFill>
                <a:latin typeface="Inter"/>
              </a:rPr>
              <a:t>04 · Inspect Metrics</a:t>
            </a:r>
          </a:p>
          <a:p>
            <a:r>
              <a:rPr sz="1120" b="0" i="0">
                <a:solidFill>
                  <a:srgbClr val="CBD5E1"/>
                </a:solidFill>
                <a:latin typeface="Inter"/>
              </a:rPr>
              <a:t>Compare raw vs. post-selected fidelity &amp; yield</a:t>
            </a:r>
          </a:p>
        </p:txBody>
      </p:sp>
      <p:sp>
        <p:nvSpPr>
          <p:cNvPr id="34" name="Rounded Rectangle 33"/>
          <p:cNvSpPr/>
          <p:nvPr/>
        </p:nvSpPr>
        <p:spPr>
          <a:xfrm>
            <a:off x="9555480" y="5248656"/>
            <a:ext cx="2112264" cy="1078992"/>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ectangle 34"/>
          <p:cNvSpPr/>
          <p:nvPr/>
        </p:nvSpPr>
        <p:spPr>
          <a:xfrm>
            <a:off x="9555480" y="5248656"/>
            <a:ext cx="2112264" cy="45720"/>
          </a:xfrm>
          <a:prstGeom prst="rect">
            <a:avLst/>
          </a:prstGeom>
          <a:solidFill>
            <a:srgbClr val="34D3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9683496" y="5358384"/>
            <a:ext cx="1856232" cy="896112"/>
          </a:xfrm>
          <a:prstGeom prst="rect">
            <a:avLst/>
          </a:prstGeom>
          <a:noFill/>
        </p:spPr>
        <p:txBody>
          <a:bodyPr wrap="square" anchor="t" lIns="0" tIns="0" rIns="0" bIns="0">
            <a:spAutoFit/>
          </a:bodyPr>
          <a:lstStyle/>
          <a:p>
            <a:pPr>
              <a:spcAft>
                <a:spcPts val="400"/>
              </a:spcAft>
            </a:pPr>
            <a:r>
              <a:rPr sz="1280" b="1" i="0">
                <a:solidFill>
                  <a:srgbClr val="34D399"/>
                </a:solidFill>
                <a:latin typeface="Inter"/>
              </a:rPr>
              <a:t>05 · Rank Strategies</a:t>
            </a:r>
          </a:p>
          <a:p>
            <a:r>
              <a:rPr sz="1120" b="0" i="0">
                <a:solidFill>
                  <a:srgbClr val="CBD5E1"/>
                </a:solidFill>
                <a:latin typeface="Inter"/>
              </a:rPr>
              <a:t>Evaluate composite score against all candidates</a:t>
            </a:r>
          </a:p>
        </p:txBody>
      </p:sp>
      <p:sp>
        <p:nvSpPr>
          <p:cNvPr id="37" name="TextBox 36"/>
          <p:cNvSpPr txBox="1"/>
          <p:nvPr/>
        </p:nvSpPr>
        <p:spPr>
          <a:xfrm>
            <a:off x="594360" y="6510528"/>
            <a:ext cx="7772400" cy="256032"/>
          </a:xfrm>
          <a:prstGeom prst="rect">
            <a:avLst/>
          </a:prstGeom>
          <a:noFill/>
        </p:spPr>
        <p:txBody>
          <a:bodyPr wrap="square" anchor="t" lIns="0" tIns="0" rIns="0" bIns="0">
            <a:spAutoFit/>
          </a:bodyPr>
          <a:lstStyle/>
          <a:p>
            <a:r>
              <a:rPr sz="1050" b="0" i="0">
                <a:solidFill>
                  <a:srgbClr val="94A3B8"/>
                </a:solidFill>
                <a:latin typeface="Inter"/>
              </a:rPr>
              <a:t>Qubit Crown  ·  Qiskit Fall Fest 2026 (Advanced Track)</a:t>
            </a:r>
          </a:p>
        </p:txBody>
      </p:sp>
      <p:sp>
        <p:nvSpPr>
          <p:cNvPr id="38" name="TextBox 37"/>
          <p:cNvSpPr txBox="1"/>
          <p:nvPr/>
        </p:nvSpPr>
        <p:spPr>
          <a:xfrm>
            <a:off x="10241280" y="6510528"/>
            <a:ext cx="1353312" cy="256032"/>
          </a:xfrm>
          <a:prstGeom prst="rect">
            <a:avLst/>
          </a:prstGeom>
          <a:noFill/>
        </p:spPr>
        <p:txBody>
          <a:bodyPr wrap="square" anchor="t" lIns="0" tIns="0" rIns="0" bIns="0">
            <a:spAutoFit/>
          </a:bodyPr>
          <a:lstStyle/>
          <a:p>
            <a:pPr algn="r"/>
            <a:r>
              <a:rPr sz="1050" b="1" i="0">
                <a:solidFill>
                  <a:srgbClr val="94A3B8"/>
                </a:solidFill>
                <a:latin typeface="Inter"/>
              </a:rPr>
              <a:t>3 / 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D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292608"/>
            <a:ext cx="8961120" cy="1143000"/>
          </a:xfrm>
          <a:prstGeom prst="rect">
            <a:avLst/>
          </a:prstGeom>
          <a:noFill/>
        </p:spPr>
        <p:txBody>
          <a:bodyPr wrap="square" anchor="t" lIns="0" tIns="0" rIns="0" bIns="0">
            <a:spAutoFit/>
          </a:bodyPr>
          <a:lstStyle/>
          <a:p>
            <a:pPr>
              <a:spcAft>
                <a:spcPts val="300"/>
              </a:spcAft>
            </a:pPr>
            <a:r>
              <a:rPr sz="1150" b="1" i="0">
                <a:solidFill>
                  <a:srgbClr val="22D3EE"/>
                </a:solidFill>
                <a:latin typeface="Inter"/>
              </a:rPr>
              <a:t>03 · SYSTEM ARCHITECTURE &amp; EXECUTION PIPELINE</a:t>
            </a:r>
          </a:p>
          <a:p>
            <a:pPr>
              <a:spcAft>
                <a:spcPts val="0"/>
              </a:spcAft>
            </a:pPr>
            <a:r>
              <a:rPr sz="2800" b="1" i="0">
                <a:solidFill>
                  <a:srgbClr val="F8FAFC"/>
                </a:solidFill>
                <a:latin typeface="Inter"/>
              </a:rPr>
              <a:t>From noisy circuit to accepted results.</a:t>
            </a:r>
          </a:p>
        </p:txBody>
      </p:sp>
      <p:sp>
        <p:nvSpPr>
          <p:cNvPr id="5" name="Rounded Rectangle 4"/>
          <p:cNvSpPr/>
          <p:nvPr/>
        </p:nvSpPr>
        <p:spPr>
          <a:xfrm>
            <a:off x="9646920" y="329184"/>
            <a:ext cx="1947672" cy="384048"/>
          </a:xfrm>
          <a:prstGeom prst="roundRect">
            <a:avLst>
              <a:gd name="adj" fmla="val 15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92640" y="393192"/>
            <a:ext cx="1856231" cy="274320"/>
          </a:xfrm>
          <a:prstGeom prst="rect">
            <a:avLst/>
          </a:prstGeom>
          <a:noFill/>
        </p:spPr>
        <p:txBody>
          <a:bodyPr wrap="square" anchor="t" lIns="0" tIns="0" rIns="0" bIns="0">
            <a:spAutoFit/>
          </a:bodyPr>
          <a:lstStyle/>
          <a:p>
            <a:pPr algn="ctr"/>
            <a:r>
              <a:rPr sz="1150" b="1" i="0">
                <a:solidFill>
                  <a:srgbClr val="22D3EE"/>
                </a:solidFill>
                <a:latin typeface="Inter"/>
              </a:rPr>
              <a:t>QISKIT + PAULICE</a:t>
            </a:r>
          </a:p>
        </p:txBody>
      </p:sp>
      <p:sp>
        <p:nvSpPr>
          <p:cNvPr id="7" name="Rounded Rectangle 6"/>
          <p:cNvSpPr/>
          <p:nvPr/>
        </p:nvSpPr>
        <p:spPr>
          <a:xfrm>
            <a:off x="594360" y="1389888"/>
            <a:ext cx="1627632" cy="1115568"/>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389888"/>
            <a:ext cx="1627632"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85800" y="1517904"/>
            <a:ext cx="1444752" cy="896112"/>
          </a:xfrm>
          <a:prstGeom prst="rect">
            <a:avLst/>
          </a:prstGeom>
          <a:noFill/>
        </p:spPr>
        <p:txBody>
          <a:bodyPr wrap="square" anchor="t" lIns="0" tIns="0" rIns="0" bIns="0">
            <a:spAutoFit/>
          </a:bodyPr>
          <a:lstStyle/>
          <a:p>
            <a:pPr algn="ctr">
              <a:spcAft>
                <a:spcPts val="400"/>
              </a:spcAft>
            </a:pPr>
            <a:r>
              <a:rPr sz="1220" b="1" i="0">
                <a:solidFill>
                  <a:srgbClr val="22D3EE"/>
                </a:solidFill>
                <a:latin typeface="Inter"/>
              </a:rPr>
              <a:t>1. Payload Circuit</a:t>
            </a:r>
          </a:p>
          <a:p>
            <a:pPr algn="ctr"/>
            <a:r>
              <a:rPr sz="1100" b="0" i="0">
                <a:solidFill>
                  <a:srgbClr val="F8FAFC"/>
                </a:solidFill>
                <a:latin typeface="Inter"/>
              </a:rPr>
              <a:t>Clifford circuit
(3–7 data qubits)</a:t>
            </a:r>
          </a:p>
        </p:txBody>
      </p:sp>
      <p:sp>
        <p:nvSpPr>
          <p:cNvPr id="10" name="TextBox 9"/>
          <p:cNvSpPr txBox="1"/>
          <p:nvPr/>
        </p:nvSpPr>
        <p:spPr>
          <a:xfrm>
            <a:off x="2231136" y="1755648"/>
            <a:ext cx="219456" cy="365760"/>
          </a:xfrm>
          <a:prstGeom prst="rect">
            <a:avLst/>
          </a:prstGeom>
          <a:noFill/>
        </p:spPr>
        <p:txBody>
          <a:bodyPr wrap="square" anchor="t" lIns="0" tIns="0" rIns="0" bIns="0">
            <a:spAutoFit/>
          </a:bodyPr>
          <a:lstStyle/>
          <a:p>
            <a:pPr algn="ctr"/>
            <a:r>
              <a:rPr sz="1600" b="1" i="0">
                <a:solidFill>
                  <a:srgbClr val="22D3EE"/>
                </a:solidFill>
                <a:latin typeface="Inter"/>
              </a:rPr>
              <a:t>→</a:t>
            </a:r>
          </a:p>
        </p:txBody>
      </p:sp>
      <p:sp>
        <p:nvSpPr>
          <p:cNvPr id="11" name="Rounded Rectangle 10"/>
          <p:cNvSpPr/>
          <p:nvPr/>
        </p:nvSpPr>
        <p:spPr>
          <a:xfrm>
            <a:off x="2459736" y="1389888"/>
            <a:ext cx="1627632" cy="1115568"/>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2459736" y="1389888"/>
            <a:ext cx="1627632"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2551176" y="1517904"/>
            <a:ext cx="1444752" cy="896112"/>
          </a:xfrm>
          <a:prstGeom prst="rect">
            <a:avLst/>
          </a:prstGeom>
          <a:noFill/>
        </p:spPr>
        <p:txBody>
          <a:bodyPr wrap="square" anchor="t" lIns="0" tIns="0" rIns="0" bIns="0">
            <a:spAutoFit/>
          </a:bodyPr>
          <a:lstStyle/>
          <a:p>
            <a:pPr algn="ctr">
              <a:spcAft>
                <a:spcPts val="400"/>
              </a:spcAft>
            </a:pPr>
            <a:r>
              <a:rPr sz="1220" b="1" i="0">
                <a:solidFill>
                  <a:srgbClr val="A78BFA"/>
                </a:solidFill>
                <a:latin typeface="Inter"/>
              </a:rPr>
              <a:t>2. Syndrome Checks</a:t>
            </a:r>
          </a:p>
          <a:p>
            <a:pPr algn="ctr"/>
            <a:r>
              <a:rPr sz="1100" b="0" i="0">
                <a:solidFill>
                  <a:srgbClr val="F8FAFC"/>
                </a:solidFill>
                <a:latin typeface="Inter"/>
              </a:rPr>
              <a:t>qiskit-paulice
spacetime checks</a:t>
            </a:r>
          </a:p>
        </p:txBody>
      </p:sp>
      <p:sp>
        <p:nvSpPr>
          <p:cNvPr id="14" name="TextBox 13"/>
          <p:cNvSpPr txBox="1"/>
          <p:nvPr/>
        </p:nvSpPr>
        <p:spPr>
          <a:xfrm>
            <a:off x="4096511" y="1755648"/>
            <a:ext cx="219456" cy="365760"/>
          </a:xfrm>
          <a:prstGeom prst="rect">
            <a:avLst/>
          </a:prstGeom>
          <a:noFill/>
        </p:spPr>
        <p:txBody>
          <a:bodyPr wrap="square" anchor="t" lIns="0" tIns="0" rIns="0" bIns="0">
            <a:spAutoFit/>
          </a:bodyPr>
          <a:lstStyle/>
          <a:p>
            <a:pPr algn="ctr"/>
            <a:r>
              <a:rPr sz="1600" b="1" i="0">
                <a:solidFill>
                  <a:srgbClr val="22D3EE"/>
                </a:solidFill>
                <a:latin typeface="Inter"/>
              </a:rPr>
              <a:t>→</a:t>
            </a:r>
          </a:p>
        </p:txBody>
      </p:sp>
      <p:sp>
        <p:nvSpPr>
          <p:cNvPr id="15" name="Rounded Rectangle 14"/>
          <p:cNvSpPr/>
          <p:nvPr/>
        </p:nvSpPr>
        <p:spPr>
          <a:xfrm>
            <a:off x="4325112" y="1389888"/>
            <a:ext cx="1627632" cy="1115568"/>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4325112" y="1389888"/>
            <a:ext cx="1627632"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416552" y="1517904"/>
            <a:ext cx="1444752" cy="896112"/>
          </a:xfrm>
          <a:prstGeom prst="rect">
            <a:avLst/>
          </a:prstGeom>
          <a:noFill/>
        </p:spPr>
        <p:txBody>
          <a:bodyPr wrap="square" anchor="t" lIns="0" tIns="0" rIns="0" bIns="0">
            <a:spAutoFit/>
          </a:bodyPr>
          <a:lstStyle/>
          <a:p>
            <a:pPr algn="ctr">
              <a:spcAft>
                <a:spcPts val="400"/>
              </a:spcAft>
            </a:pPr>
            <a:r>
              <a:rPr sz="1220" b="1" i="0">
                <a:solidFill>
                  <a:srgbClr val="FB923C"/>
                </a:solidFill>
                <a:latin typeface="Inter"/>
              </a:rPr>
              <a:t>3. Noisy Simulation</a:t>
            </a:r>
          </a:p>
          <a:p>
            <a:pPr algn="ctr"/>
            <a:r>
              <a:rPr sz="1100" b="0" i="0">
                <a:solidFill>
                  <a:srgbClr val="F8FAFC"/>
                </a:solidFill>
                <a:latin typeface="Inter"/>
              </a:rPr>
              <a:t>Qiskit Aer
2,048 noisy shots</a:t>
            </a:r>
          </a:p>
        </p:txBody>
      </p:sp>
      <p:sp>
        <p:nvSpPr>
          <p:cNvPr id="18" name="TextBox 17"/>
          <p:cNvSpPr txBox="1"/>
          <p:nvPr/>
        </p:nvSpPr>
        <p:spPr>
          <a:xfrm>
            <a:off x="5961888" y="1755648"/>
            <a:ext cx="219456" cy="365760"/>
          </a:xfrm>
          <a:prstGeom prst="rect">
            <a:avLst/>
          </a:prstGeom>
          <a:noFill/>
        </p:spPr>
        <p:txBody>
          <a:bodyPr wrap="square" anchor="t" lIns="0" tIns="0" rIns="0" bIns="0">
            <a:spAutoFit/>
          </a:bodyPr>
          <a:lstStyle/>
          <a:p>
            <a:pPr algn="ctr"/>
            <a:r>
              <a:rPr sz="1600" b="1" i="0">
                <a:solidFill>
                  <a:srgbClr val="22D3EE"/>
                </a:solidFill>
                <a:latin typeface="Inter"/>
              </a:rPr>
              <a:t>→</a:t>
            </a:r>
          </a:p>
        </p:txBody>
      </p:sp>
      <p:sp>
        <p:nvSpPr>
          <p:cNvPr id="19" name="Rounded Rectangle 18"/>
          <p:cNvSpPr/>
          <p:nvPr/>
        </p:nvSpPr>
        <p:spPr>
          <a:xfrm>
            <a:off x="6190488" y="1389888"/>
            <a:ext cx="1627632" cy="1115568"/>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190488" y="1389888"/>
            <a:ext cx="1627632"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281928" y="1517904"/>
            <a:ext cx="1444752" cy="896112"/>
          </a:xfrm>
          <a:prstGeom prst="rect">
            <a:avLst/>
          </a:prstGeom>
          <a:noFill/>
        </p:spPr>
        <p:txBody>
          <a:bodyPr wrap="square" anchor="t" lIns="0" tIns="0" rIns="0" bIns="0">
            <a:spAutoFit/>
          </a:bodyPr>
          <a:lstStyle/>
          <a:p>
            <a:pPr algn="ctr">
              <a:spcAft>
                <a:spcPts val="400"/>
              </a:spcAft>
            </a:pPr>
            <a:r>
              <a:rPr sz="1220" b="1" i="0">
                <a:solidFill>
                  <a:srgbClr val="22D3EE"/>
                </a:solidFill>
                <a:latin typeface="Inter"/>
              </a:rPr>
              <a:t>4. Syndrome Eval</a:t>
            </a:r>
          </a:p>
          <a:p>
            <a:pPr algn="ctr"/>
            <a:r>
              <a:rPr sz="1100" b="0" i="0">
                <a:solidFill>
                  <a:srgbClr val="F8FAFC"/>
                </a:solidFill>
                <a:latin typeface="Inter"/>
              </a:rPr>
              <a:t>Inspect ancilla
parity outcomes</a:t>
            </a:r>
          </a:p>
        </p:txBody>
      </p:sp>
      <p:sp>
        <p:nvSpPr>
          <p:cNvPr id="22" name="TextBox 21"/>
          <p:cNvSpPr txBox="1"/>
          <p:nvPr/>
        </p:nvSpPr>
        <p:spPr>
          <a:xfrm>
            <a:off x="7827264" y="1755648"/>
            <a:ext cx="219456" cy="365760"/>
          </a:xfrm>
          <a:prstGeom prst="rect">
            <a:avLst/>
          </a:prstGeom>
          <a:noFill/>
        </p:spPr>
        <p:txBody>
          <a:bodyPr wrap="square" anchor="t" lIns="0" tIns="0" rIns="0" bIns="0">
            <a:spAutoFit/>
          </a:bodyPr>
          <a:lstStyle/>
          <a:p>
            <a:pPr algn="ctr"/>
            <a:r>
              <a:rPr sz="1600" b="1" i="0">
                <a:solidFill>
                  <a:srgbClr val="22D3EE"/>
                </a:solidFill>
                <a:latin typeface="Inter"/>
              </a:rPr>
              <a:t>→</a:t>
            </a:r>
          </a:p>
        </p:txBody>
      </p:sp>
      <p:sp>
        <p:nvSpPr>
          <p:cNvPr id="23" name="Rounded Rectangle 22"/>
          <p:cNvSpPr/>
          <p:nvPr/>
        </p:nvSpPr>
        <p:spPr>
          <a:xfrm>
            <a:off x="8055864" y="1389888"/>
            <a:ext cx="1627632" cy="1115568"/>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8055864" y="1389888"/>
            <a:ext cx="1627632"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147304" y="1517904"/>
            <a:ext cx="1444752" cy="896112"/>
          </a:xfrm>
          <a:prstGeom prst="rect">
            <a:avLst/>
          </a:prstGeom>
          <a:noFill/>
        </p:spPr>
        <p:txBody>
          <a:bodyPr wrap="square" anchor="t" lIns="0" tIns="0" rIns="0" bIns="0">
            <a:spAutoFit/>
          </a:bodyPr>
          <a:lstStyle/>
          <a:p>
            <a:pPr algn="ctr">
              <a:spcAft>
                <a:spcPts val="400"/>
              </a:spcAft>
            </a:pPr>
            <a:r>
              <a:rPr sz="1220" b="1" i="0">
                <a:solidFill>
                  <a:srgbClr val="A78BFA"/>
                </a:solidFill>
                <a:latin typeface="Inter"/>
              </a:rPr>
              <a:t>5. Post-Selection</a:t>
            </a:r>
          </a:p>
          <a:p>
            <a:pPr algn="ctr"/>
            <a:r>
              <a:rPr sz="1100" b="0" i="0">
                <a:solidFill>
                  <a:srgbClr val="F8FAFC"/>
                </a:solidFill>
                <a:latin typeface="Inter"/>
              </a:rPr>
              <a:t>Filter flagged runs
keep clean shots</a:t>
            </a:r>
          </a:p>
        </p:txBody>
      </p:sp>
      <p:sp>
        <p:nvSpPr>
          <p:cNvPr id="26" name="TextBox 25"/>
          <p:cNvSpPr txBox="1"/>
          <p:nvPr/>
        </p:nvSpPr>
        <p:spPr>
          <a:xfrm>
            <a:off x="9692640" y="1755648"/>
            <a:ext cx="219456" cy="365760"/>
          </a:xfrm>
          <a:prstGeom prst="rect">
            <a:avLst/>
          </a:prstGeom>
          <a:noFill/>
        </p:spPr>
        <p:txBody>
          <a:bodyPr wrap="square" anchor="t" lIns="0" tIns="0" rIns="0" bIns="0">
            <a:spAutoFit/>
          </a:bodyPr>
          <a:lstStyle/>
          <a:p>
            <a:pPr algn="ctr"/>
            <a:r>
              <a:rPr sz="1600" b="1" i="0">
                <a:solidFill>
                  <a:srgbClr val="22D3EE"/>
                </a:solidFill>
                <a:latin typeface="Inter"/>
              </a:rPr>
              <a:t>→</a:t>
            </a:r>
          </a:p>
        </p:txBody>
      </p:sp>
      <p:sp>
        <p:nvSpPr>
          <p:cNvPr id="27" name="Rounded Rectangle 26"/>
          <p:cNvSpPr/>
          <p:nvPr/>
        </p:nvSpPr>
        <p:spPr>
          <a:xfrm>
            <a:off x="9921240" y="1389888"/>
            <a:ext cx="1627632" cy="1115568"/>
          </a:xfrm>
          <a:prstGeom prst="roundRect">
            <a:avLst>
              <a:gd name="adj" fmla="val 4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9921240" y="1389888"/>
            <a:ext cx="1627632" cy="45720"/>
          </a:xfrm>
          <a:prstGeom prst="rect">
            <a:avLst/>
          </a:prstGeom>
          <a:solidFill>
            <a:srgbClr val="34D3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10012680" y="1517904"/>
            <a:ext cx="1444752" cy="896112"/>
          </a:xfrm>
          <a:prstGeom prst="rect">
            <a:avLst/>
          </a:prstGeom>
          <a:noFill/>
        </p:spPr>
        <p:txBody>
          <a:bodyPr wrap="square" anchor="t" lIns="0" tIns="0" rIns="0" bIns="0">
            <a:spAutoFit/>
          </a:bodyPr>
          <a:lstStyle/>
          <a:p>
            <a:pPr algn="ctr">
              <a:spcAft>
                <a:spcPts val="400"/>
              </a:spcAft>
            </a:pPr>
            <a:r>
              <a:rPr sz="1220" b="1" i="0">
                <a:solidFill>
                  <a:srgbClr val="34D399"/>
                </a:solidFill>
                <a:latin typeface="Inter"/>
              </a:rPr>
              <a:t>6. Compare Metrics</a:t>
            </a:r>
          </a:p>
          <a:p>
            <a:pPr algn="ctr"/>
            <a:r>
              <a:rPr sz="1100" b="0" i="0">
                <a:solidFill>
                  <a:srgbClr val="F8FAFC"/>
                </a:solidFill>
                <a:latin typeface="Inter"/>
              </a:rPr>
              <a:t>Fidelity, retention
&amp; gate overhead</a:t>
            </a:r>
          </a:p>
        </p:txBody>
      </p:sp>
      <p:sp>
        <p:nvSpPr>
          <p:cNvPr id="30" name="Rounded Rectangle 29"/>
          <p:cNvSpPr/>
          <p:nvPr/>
        </p:nvSpPr>
        <p:spPr>
          <a:xfrm>
            <a:off x="594360" y="2706624"/>
            <a:ext cx="3931920" cy="3639312"/>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594360" y="2706624"/>
            <a:ext cx="3931920"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04672" y="2871216"/>
            <a:ext cx="3511296" cy="3364992"/>
          </a:xfrm>
          <a:prstGeom prst="rect">
            <a:avLst/>
          </a:prstGeom>
          <a:noFill/>
        </p:spPr>
        <p:txBody>
          <a:bodyPr wrap="square" anchor="t" lIns="0" tIns="0" rIns="0" bIns="0">
            <a:spAutoFit/>
          </a:bodyPr>
          <a:lstStyle/>
          <a:p>
            <a:pPr>
              <a:spcAft>
                <a:spcPts val="800"/>
              </a:spcAft>
            </a:pPr>
            <a:r>
              <a:rPr sz="1750" b="1" i="0">
                <a:solidFill>
                  <a:srgbClr val="F8FAFC"/>
                </a:solidFill>
                <a:latin typeface="Inter"/>
              </a:rPr>
              <a:t>Technical Stack &amp; Scope</a:t>
            </a:r>
          </a:p>
          <a:p>
            <a:pPr>
              <a:spcAft>
                <a:spcPts val="800"/>
              </a:spcAft>
            </a:pPr>
            <a:r>
              <a:rPr sz="1220" b="1" i="0">
                <a:solidFill>
                  <a:srgbClr val="22D3EE"/>
                </a:solidFill>
                <a:latin typeface="Inter"/>
              </a:rPr>
              <a:t>▸ Clifford Payload Circuits: </a:t>
            </a:r>
            <a:r>
              <a:rPr sz="1200" b="0" i="0">
                <a:solidFill>
                  <a:srgbClr val="CBD5E1"/>
                </a:solidFill>
                <a:latin typeface="Inter"/>
              </a:rPr>
              <a:t>Campaign missions use Clifford-only payload circuits so stabilizer propagation remains exact.</a:t>
            </a:r>
          </a:p>
          <a:p>
            <a:pPr>
              <a:spcAft>
                <a:spcPts val="800"/>
              </a:spcAft>
            </a:pPr>
            <a:r>
              <a:rPr sz="1220" b="1" i="0">
                <a:solidFill>
                  <a:srgbClr val="A78BFA"/>
                </a:solidFill>
                <a:latin typeface="Inter"/>
              </a:rPr>
              <a:t>▸ qiskit-paulice Checks: </a:t>
            </a:r>
            <a:r>
              <a:rPr sz="1200" b="0" i="0">
                <a:solidFill>
                  <a:srgbClr val="CBD5E1"/>
                </a:solidFill>
                <a:latin typeface="Inter"/>
              </a:rPr>
              <a:t>Constructs coherent spacetime Pauli checks (e.g., Check 1 support {q0, q1, q2, q3}) and ancilla registers (checks_q).</a:t>
            </a:r>
          </a:p>
          <a:p>
            <a:pPr>
              <a:spcAft>
                <a:spcPts val="800"/>
              </a:spcAft>
            </a:pPr>
            <a:r>
              <a:rPr sz="1220" b="1" i="0">
                <a:solidFill>
                  <a:srgbClr val="FB923C"/>
                </a:solidFill>
                <a:latin typeface="Inter"/>
              </a:rPr>
              <a:t>▸ Qiskit Aer Simulation: </a:t>
            </a:r>
            <a:r>
              <a:rPr sz="1200" b="0" i="0">
                <a:solidFill>
                  <a:srgbClr val="CBD5E1"/>
                </a:solidFill>
                <a:latin typeface="Inter"/>
              </a:rPr>
              <a:t>Executes 2,048 noisy shots under FakeTorino-derived uniform noise and records gate/depth overhead.</a:t>
            </a:r>
          </a:p>
          <a:p>
            <a:pPr>
              <a:spcAft>
                <a:spcPts val="800"/>
              </a:spcAft>
            </a:pPr>
            <a:r>
              <a:rPr sz="1220" b="1" i="0">
                <a:solidFill>
                  <a:srgbClr val="F8FAFC"/>
                </a:solidFill>
                <a:latin typeface="Inter"/>
              </a:rPr>
              <a:t>▸ Detection, Not Correction: </a:t>
            </a:r>
            <a:r>
              <a:rPr sz="1200" b="0" i="0">
                <a:solidFill>
                  <a:srgbClr val="CBD5E1"/>
                </a:solidFill>
                <a:latin typeface="Inter"/>
              </a:rPr>
              <a:t>Post-selection discards syndrome-flagged runs. It does NOT actively correct errors or perform fault-tolerant QEC.</a:t>
            </a:r>
          </a:p>
        </p:txBody>
      </p:sp>
      <p:sp>
        <p:nvSpPr>
          <p:cNvPr id="33" name="Rounded Rectangle 32"/>
          <p:cNvSpPr/>
          <p:nvPr/>
        </p:nvSpPr>
        <p:spPr>
          <a:xfrm>
            <a:off x="4709160" y="2706624"/>
            <a:ext cx="6885432" cy="3639312"/>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4709160" y="2706624"/>
            <a:ext cx="6885432"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crop_s4_circuit.png"/>
          <p:cNvPicPr>
            <a:picLocks noChangeAspect="1"/>
          </p:cNvPicPr>
          <p:nvPr/>
        </p:nvPicPr>
        <p:blipFill>
          <a:blip r:embed="rId3"/>
          <a:stretch>
            <a:fillRect/>
          </a:stretch>
        </p:blipFill>
        <p:spPr>
          <a:xfrm>
            <a:off x="5128869" y="2816352"/>
            <a:ext cx="6046012" cy="3182112"/>
          </a:xfrm>
          <a:prstGeom prst="rect">
            <a:avLst/>
          </a:prstGeom>
          <a:ln>
            <a:noFill/>
          </a:ln>
          <a:effectLst/>
        </p:spPr>
      </p:pic>
      <p:sp>
        <p:nvSpPr>
          <p:cNvPr id="36" name="TextBox 35"/>
          <p:cNvSpPr txBox="1"/>
          <p:nvPr/>
        </p:nvSpPr>
        <p:spPr>
          <a:xfrm>
            <a:off x="4818888" y="6035040"/>
            <a:ext cx="6665976" cy="256032"/>
          </a:xfrm>
          <a:prstGeom prst="rect">
            <a:avLst/>
          </a:prstGeom>
          <a:noFill/>
        </p:spPr>
        <p:txBody>
          <a:bodyPr wrap="square" anchor="t" lIns="0" tIns="0" rIns="0" bIns="0">
            <a:spAutoFit/>
          </a:bodyPr>
          <a:lstStyle/>
          <a:p>
            <a:pPr algn="ctr"/>
            <a:r>
              <a:rPr sz="1120" b="0" i="0">
                <a:solidFill>
                  <a:srgbClr val="94A3B8"/>
                </a:solidFill>
                <a:latin typeface="Inter"/>
              </a:rPr>
              <a:t>Measured Level 1 {q0} Battle Report: +1 ancilla, 14 → 16 two-qubit gates, 20 → 29 depth, and Qiskit circuit diagram</a:t>
            </a:r>
          </a:p>
        </p:txBody>
      </p:sp>
      <p:sp>
        <p:nvSpPr>
          <p:cNvPr id="37" name="TextBox 36"/>
          <p:cNvSpPr txBox="1"/>
          <p:nvPr/>
        </p:nvSpPr>
        <p:spPr>
          <a:xfrm>
            <a:off x="594360" y="6510528"/>
            <a:ext cx="7772400" cy="256032"/>
          </a:xfrm>
          <a:prstGeom prst="rect">
            <a:avLst/>
          </a:prstGeom>
          <a:noFill/>
        </p:spPr>
        <p:txBody>
          <a:bodyPr wrap="square" anchor="t" lIns="0" tIns="0" rIns="0" bIns="0">
            <a:spAutoFit/>
          </a:bodyPr>
          <a:lstStyle/>
          <a:p>
            <a:r>
              <a:rPr sz="1050" b="0" i="0">
                <a:solidFill>
                  <a:srgbClr val="94A3B8"/>
                </a:solidFill>
                <a:latin typeface="Inter"/>
              </a:rPr>
              <a:t>Qubit Crown  ·  Qiskit Fall Fest 2026 (Advanced Track)</a:t>
            </a:r>
          </a:p>
        </p:txBody>
      </p:sp>
      <p:sp>
        <p:nvSpPr>
          <p:cNvPr id="38" name="TextBox 37"/>
          <p:cNvSpPr txBox="1"/>
          <p:nvPr/>
        </p:nvSpPr>
        <p:spPr>
          <a:xfrm>
            <a:off x="10241280" y="6510528"/>
            <a:ext cx="1353312" cy="256032"/>
          </a:xfrm>
          <a:prstGeom prst="rect">
            <a:avLst/>
          </a:prstGeom>
          <a:noFill/>
        </p:spPr>
        <p:txBody>
          <a:bodyPr wrap="square" anchor="t" lIns="0" tIns="0" rIns="0" bIns="0">
            <a:spAutoFit/>
          </a:bodyPr>
          <a:lstStyle/>
          <a:p>
            <a:pPr algn="r"/>
            <a:r>
              <a:rPr sz="1050" b="1" i="0">
                <a:solidFill>
                  <a:srgbClr val="94A3B8"/>
                </a:solidFill>
                <a:latin typeface="Inter"/>
              </a:rPr>
              <a:t>4 / 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D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292608"/>
            <a:ext cx="8961120" cy="1143000"/>
          </a:xfrm>
          <a:prstGeom prst="rect">
            <a:avLst/>
          </a:prstGeom>
          <a:noFill/>
        </p:spPr>
        <p:txBody>
          <a:bodyPr wrap="square" anchor="t" lIns="0" tIns="0" rIns="0" bIns="0">
            <a:spAutoFit/>
          </a:bodyPr>
          <a:lstStyle/>
          <a:p>
            <a:pPr>
              <a:spcAft>
                <a:spcPts val="300"/>
              </a:spcAft>
            </a:pPr>
            <a:r>
              <a:rPr sz="1150" b="1" i="0">
                <a:solidFill>
                  <a:srgbClr val="22D3EE"/>
                </a:solidFill>
                <a:latin typeface="Inter"/>
              </a:rPr>
              <a:t>04 · MEASURED RESULTS &amp; OVERHEAD TELEMETRY</a:t>
            </a:r>
          </a:p>
          <a:p>
            <a:pPr>
              <a:spcAft>
                <a:spcPts val="0"/>
              </a:spcAft>
            </a:pPr>
            <a:r>
              <a:rPr sz="2800" b="1" i="0">
                <a:solidFill>
                  <a:srgbClr val="F8FAFC"/>
                </a:solidFill>
                <a:latin typeface="Inter"/>
              </a:rPr>
              <a:t>Better accepted results. Fewer surviving shots.</a:t>
            </a:r>
          </a:p>
        </p:txBody>
      </p:sp>
      <p:sp>
        <p:nvSpPr>
          <p:cNvPr id="5" name="Rounded Rectangle 4"/>
          <p:cNvSpPr/>
          <p:nvPr/>
        </p:nvSpPr>
        <p:spPr>
          <a:xfrm>
            <a:off x="9646920" y="329184"/>
            <a:ext cx="1947672" cy="384048"/>
          </a:xfrm>
          <a:prstGeom prst="roundRect">
            <a:avLst>
              <a:gd name="adj" fmla="val 15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92640" y="393192"/>
            <a:ext cx="1856231" cy="274320"/>
          </a:xfrm>
          <a:prstGeom prst="rect">
            <a:avLst/>
          </a:prstGeom>
          <a:noFill/>
        </p:spPr>
        <p:txBody>
          <a:bodyPr wrap="square" anchor="t" lIns="0" tIns="0" rIns="0" bIns="0">
            <a:spAutoFit/>
          </a:bodyPr>
          <a:lstStyle/>
          <a:p>
            <a:pPr algn="ctr"/>
            <a:r>
              <a:rPr sz="1150" b="1" i="0">
                <a:solidFill>
                  <a:srgbClr val="22D3EE"/>
                </a:solidFill>
                <a:latin typeface="Inter"/>
              </a:rPr>
              <a:t>LEVEL 1 · 2,048 SHOTS</a:t>
            </a:r>
          </a:p>
        </p:txBody>
      </p:sp>
      <p:sp>
        <p:nvSpPr>
          <p:cNvPr id="7" name="Rounded Rectangle 6"/>
          <p:cNvSpPr/>
          <p:nvPr/>
        </p:nvSpPr>
        <p:spPr>
          <a:xfrm>
            <a:off x="594360" y="1371600"/>
            <a:ext cx="2578608" cy="2432304"/>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371600"/>
            <a:ext cx="2578608" cy="45720"/>
          </a:xfrm>
          <a:prstGeom prst="rect">
            <a:avLst/>
          </a:prstGeom>
          <a:solidFill>
            <a:srgbClr val="94A3B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31520" y="1481328"/>
            <a:ext cx="2322576" cy="2249424"/>
          </a:xfrm>
          <a:prstGeom prst="rect">
            <a:avLst/>
          </a:prstGeom>
          <a:noFill/>
        </p:spPr>
        <p:txBody>
          <a:bodyPr wrap="square" anchor="t" lIns="0" tIns="0" rIns="0" bIns="0">
            <a:spAutoFit/>
          </a:bodyPr>
          <a:lstStyle/>
          <a:p>
            <a:pPr>
              <a:spcAft>
                <a:spcPts val="200"/>
              </a:spcAft>
            </a:pPr>
            <a:r>
              <a:rPr sz="1100" b="1" i="0">
                <a:solidFill>
                  <a:srgbClr val="94A3B8"/>
                </a:solidFill>
                <a:latin typeface="Inter"/>
              </a:rPr>
              <a:t>NO-CHECK BASELINE</a:t>
            </a:r>
          </a:p>
          <a:p>
            <a:pPr>
              <a:spcAft>
                <a:spcPts val="100"/>
              </a:spcAft>
            </a:pPr>
            <a:r>
              <a:rPr sz="2600" b="1" i="0">
                <a:solidFill>
                  <a:srgbClr val="F8FAFC"/>
                </a:solidFill>
                <a:latin typeface="Inter"/>
              </a:rPr>
              <a:t>89.68%</a:t>
            </a:r>
          </a:p>
          <a:p>
            <a:pPr>
              <a:spcAft>
                <a:spcPts val="500"/>
              </a:spcAft>
            </a:pPr>
            <a:r>
              <a:rPr sz="1100" b="0" i="0">
                <a:solidFill>
                  <a:srgbClr val="CBD5E1"/>
                </a:solidFill>
                <a:latin typeface="Inter"/>
              </a:rPr>
              <a:t>Baseline Fidelity (unfiltered)</a:t>
            </a:r>
          </a:p>
          <a:p>
            <a:pPr>
              <a:spcAft>
                <a:spcPts val="300"/>
              </a:spcAft>
            </a:pPr>
            <a:r>
              <a:rPr sz="1100" b="1" i="0">
                <a:solidFill>
                  <a:srgbClr val="A78BFA"/>
                </a:solidFill>
                <a:latin typeface="Inter"/>
              </a:rPr>
              <a:t>• Retention: </a:t>
            </a:r>
            <a:r>
              <a:rPr sz="1100" b="0" i="0">
                <a:solidFill>
                  <a:srgbClr val="F8FAFC"/>
                </a:solidFill>
                <a:latin typeface="Inter"/>
              </a:rPr>
              <a:t>100% (2,048 kept)</a:t>
            </a:r>
          </a:p>
          <a:p>
            <a:pPr>
              <a:spcAft>
                <a:spcPts val="300"/>
              </a:spcAft>
            </a:pPr>
            <a:r>
              <a:rPr sz="1100" b="1" i="0">
                <a:solidFill>
                  <a:srgbClr val="FB923C"/>
                </a:solidFill>
                <a:latin typeface="Inter"/>
              </a:rPr>
              <a:t>• Rejected: </a:t>
            </a:r>
            <a:r>
              <a:rPr sz="1100" b="0" i="0">
                <a:solidFill>
                  <a:srgbClr val="CBD5E1"/>
                </a:solidFill>
                <a:latin typeface="Inter"/>
              </a:rPr>
              <a:t>0 shots discarded</a:t>
            </a:r>
          </a:p>
          <a:p>
            <a:pPr>
              <a:spcAft>
                <a:spcPts val="300"/>
              </a:spcAft>
            </a:pPr>
            <a:r>
              <a:rPr sz="1100" b="1" i="0">
                <a:solidFill>
                  <a:srgbClr val="FB923C"/>
                </a:solidFill>
                <a:latin typeface="Inter"/>
              </a:rPr>
              <a:t>• Circuit: </a:t>
            </a:r>
            <a:r>
              <a:rPr sz="1100" b="0" i="0">
                <a:solidFill>
                  <a:srgbClr val="CBD5E1"/>
                </a:solidFill>
                <a:latin typeface="Inter"/>
              </a:rPr>
              <a:t>Depth 20 · 14 2Q · 0 anc</a:t>
            </a:r>
          </a:p>
          <a:p>
            <a:r>
              <a:rPr sz="1100" b="1" i="0">
                <a:solidFill>
                  <a:srgbClr val="94A3B8"/>
                </a:solidFill>
                <a:latin typeface="Inter"/>
              </a:rPr>
              <a:t>• Score: </a:t>
            </a:r>
            <a:r>
              <a:rPr sz="1100" b="1" i="0">
                <a:solidFill>
                  <a:srgbClr val="FB923C"/>
                </a:solidFill>
                <a:latin typeface="Inter"/>
              </a:rPr>
              <a:t>91.98 / 100 (FAIL)</a:t>
            </a:r>
          </a:p>
        </p:txBody>
      </p:sp>
      <p:sp>
        <p:nvSpPr>
          <p:cNvPr id="10" name="Rounded Rectangle 9"/>
          <p:cNvSpPr/>
          <p:nvPr/>
        </p:nvSpPr>
        <p:spPr>
          <a:xfrm>
            <a:off x="3282696" y="1371600"/>
            <a:ext cx="2615184" cy="2432304"/>
          </a:xfrm>
          <a:prstGeom prst="roundRect">
            <a:avLst>
              <a:gd name="adj" fmla="val 4000"/>
            </a:avLst>
          </a:prstGeom>
          <a:solidFill>
            <a:srgbClr val="0D22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282696" y="1371600"/>
            <a:ext cx="2615184"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410712" y="1481328"/>
            <a:ext cx="2377440" cy="2249424"/>
          </a:xfrm>
          <a:prstGeom prst="rect">
            <a:avLst/>
          </a:prstGeom>
          <a:noFill/>
        </p:spPr>
        <p:txBody>
          <a:bodyPr wrap="square" anchor="t" lIns="0" tIns="0" rIns="0" bIns="0">
            <a:spAutoFit/>
          </a:bodyPr>
          <a:lstStyle/>
          <a:p>
            <a:pPr>
              <a:spcAft>
                <a:spcPts val="200"/>
              </a:spcAft>
            </a:pPr>
            <a:r>
              <a:rPr sz="1100" b="1" i="0">
                <a:solidFill>
                  <a:srgbClr val="22D3EE"/>
                </a:solidFill>
                <a:latin typeface="Inter"/>
              </a:rPr>
              <a:t>SYNDROME CHECK {q0}</a:t>
            </a:r>
          </a:p>
          <a:p>
            <a:pPr>
              <a:spcAft>
                <a:spcPts val="100"/>
              </a:spcAft>
            </a:pPr>
            <a:r>
              <a:rPr sz="2600" b="1" i="0">
                <a:solidFill>
                  <a:srgbClr val="22D3EE"/>
                </a:solidFill>
                <a:latin typeface="Inter"/>
              </a:rPr>
              <a:t>97.21%</a:t>
            </a:r>
            <a:r>
              <a:rPr sz="1200" b="1" i="0">
                <a:solidFill>
                  <a:srgbClr val="34D399"/>
                </a:solidFill>
                <a:latin typeface="Inter"/>
              </a:rPr>
              <a:t> (+7.53 pp)</a:t>
            </a:r>
          </a:p>
          <a:p>
            <a:pPr>
              <a:spcAft>
                <a:spcPts val="500"/>
              </a:spcAft>
            </a:pPr>
            <a:r>
              <a:rPr sz="1100" b="0" i="0">
                <a:solidFill>
                  <a:srgbClr val="F8FAFC"/>
                </a:solidFill>
                <a:latin typeface="Inter"/>
              </a:rPr>
              <a:t>Post-Selected (Raw: 89.06%)</a:t>
            </a:r>
          </a:p>
          <a:p>
            <a:pPr>
              <a:spcAft>
                <a:spcPts val="300"/>
              </a:spcAft>
            </a:pPr>
            <a:r>
              <a:rPr sz="1100" b="1" i="0">
                <a:solidFill>
                  <a:srgbClr val="A78BFA"/>
                </a:solidFill>
                <a:latin typeface="Inter"/>
              </a:rPr>
              <a:t>• Retention: </a:t>
            </a:r>
            <a:r>
              <a:rPr sz="1100" b="1" i="0">
                <a:solidFill>
                  <a:srgbClr val="F8FAFC"/>
                </a:solidFill>
                <a:latin typeface="Inter"/>
              </a:rPr>
              <a:t>82.42% (1,688 kept)</a:t>
            </a:r>
          </a:p>
          <a:p>
            <a:pPr>
              <a:spcAft>
                <a:spcPts val="300"/>
              </a:spcAft>
            </a:pPr>
            <a:r>
              <a:rPr sz="1100" b="1" i="0">
                <a:solidFill>
                  <a:srgbClr val="FB923C"/>
                </a:solidFill>
                <a:latin typeface="Inter"/>
              </a:rPr>
              <a:t>• Rejected: </a:t>
            </a:r>
            <a:r>
              <a:rPr sz="1100" b="0" i="0">
                <a:solidFill>
                  <a:srgbClr val="CBD5E1"/>
                </a:solidFill>
                <a:latin typeface="Inter"/>
              </a:rPr>
              <a:t>360 shots (17.6%)</a:t>
            </a:r>
          </a:p>
          <a:p>
            <a:pPr>
              <a:spcAft>
                <a:spcPts val="300"/>
              </a:spcAft>
            </a:pPr>
            <a:r>
              <a:rPr sz="1100" b="1" i="0">
                <a:solidFill>
                  <a:srgbClr val="FB923C"/>
                </a:solidFill>
                <a:latin typeface="Inter"/>
              </a:rPr>
              <a:t>• Overhead: </a:t>
            </a:r>
            <a:r>
              <a:rPr sz="1100" b="0" i="0">
                <a:solidFill>
                  <a:srgbClr val="F8FAFC"/>
                </a:solidFill>
                <a:latin typeface="Inter"/>
              </a:rPr>
              <a:t>Depth 29 · 16 2Q · 1 anc</a:t>
            </a:r>
          </a:p>
          <a:p>
            <a:r>
              <a:rPr sz="1100" b="1" i="0">
                <a:solidFill>
                  <a:srgbClr val="22D3EE"/>
                </a:solidFill>
                <a:latin typeface="Inter"/>
              </a:rPr>
              <a:t>• Score: </a:t>
            </a:r>
            <a:r>
              <a:rPr sz="1100" b="1" i="0">
                <a:solidFill>
                  <a:srgbClr val="34D399"/>
                </a:solidFill>
                <a:latin typeface="Inter"/>
              </a:rPr>
              <a:t>93.17 / 100 (PASS #2)</a:t>
            </a:r>
          </a:p>
        </p:txBody>
      </p:sp>
      <p:sp>
        <p:nvSpPr>
          <p:cNvPr id="13" name="Rounded Rectangle 12"/>
          <p:cNvSpPr/>
          <p:nvPr/>
        </p:nvSpPr>
        <p:spPr>
          <a:xfrm>
            <a:off x="594360" y="3950208"/>
            <a:ext cx="5303520" cy="239572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94360" y="3950208"/>
            <a:ext cx="5303520"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chart_s5_level1.png"/>
          <p:cNvPicPr>
            <a:picLocks noChangeAspect="1"/>
          </p:cNvPicPr>
          <p:nvPr/>
        </p:nvPicPr>
        <p:blipFill>
          <a:blip r:embed="rId3"/>
          <a:stretch>
            <a:fillRect/>
          </a:stretch>
        </p:blipFill>
        <p:spPr>
          <a:xfrm>
            <a:off x="667512" y="4087515"/>
            <a:ext cx="5157216" cy="2121113"/>
          </a:xfrm>
          <a:prstGeom prst="rect">
            <a:avLst/>
          </a:prstGeom>
          <a:ln>
            <a:noFill/>
          </a:ln>
          <a:effectLst/>
        </p:spPr>
      </p:pic>
      <p:sp>
        <p:nvSpPr>
          <p:cNvPr id="16" name="Rounded Rectangle 15"/>
          <p:cNvSpPr/>
          <p:nvPr/>
        </p:nvSpPr>
        <p:spPr>
          <a:xfrm>
            <a:off x="6053328" y="1371600"/>
            <a:ext cx="5541264" cy="276148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053328" y="1371600"/>
            <a:ext cx="5541264"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crop_s5_debrief.png"/>
          <p:cNvPicPr>
            <a:picLocks noChangeAspect="1"/>
          </p:cNvPicPr>
          <p:nvPr/>
        </p:nvPicPr>
        <p:blipFill>
          <a:blip r:embed="rId4"/>
          <a:stretch>
            <a:fillRect/>
          </a:stretch>
        </p:blipFill>
        <p:spPr>
          <a:xfrm>
            <a:off x="6144768" y="1522154"/>
            <a:ext cx="5358384" cy="2259210"/>
          </a:xfrm>
          <a:prstGeom prst="rect">
            <a:avLst/>
          </a:prstGeom>
          <a:ln>
            <a:noFill/>
          </a:ln>
          <a:effectLst/>
        </p:spPr>
      </p:pic>
      <p:sp>
        <p:nvSpPr>
          <p:cNvPr id="19" name="TextBox 18"/>
          <p:cNvSpPr txBox="1"/>
          <p:nvPr/>
        </p:nvSpPr>
        <p:spPr>
          <a:xfrm>
            <a:off x="6144768" y="3858768"/>
            <a:ext cx="5358384" cy="228600"/>
          </a:xfrm>
          <a:prstGeom prst="rect">
            <a:avLst/>
          </a:prstGeom>
          <a:noFill/>
        </p:spPr>
        <p:txBody>
          <a:bodyPr wrap="square" anchor="t" lIns="0" tIns="0" rIns="0" bIns="0">
            <a:spAutoFit/>
          </a:bodyPr>
          <a:lstStyle/>
          <a:p>
            <a:pPr algn="ctr"/>
            <a:r>
              <a:rPr sz="1080" b="0" i="0">
                <a:solidFill>
                  <a:srgbClr val="94A3B8"/>
                </a:solidFill>
                <a:latin typeface="Inter"/>
              </a:rPr>
              <a:t>Actual Level 1 {q0} Mission Debrief: 97.21% post-selected vs. 89.06% raw fidelity, 82.42% retention</a:t>
            </a:r>
          </a:p>
        </p:txBody>
      </p:sp>
      <p:sp>
        <p:nvSpPr>
          <p:cNvPr id="20" name="Rounded Rectangle 19"/>
          <p:cNvSpPr/>
          <p:nvPr/>
        </p:nvSpPr>
        <p:spPr>
          <a:xfrm>
            <a:off x="6053328" y="4242816"/>
            <a:ext cx="5541264" cy="2103120"/>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6053328" y="4242816"/>
            <a:ext cx="5541264"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crop_s5_raw_post.png"/>
          <p:cNvPicPr>
            <a:picLocks noChangeAspect="1"/>
          </p:cNvPicPr>
          <p:nvPr/>
        </p:nvPicPr>
        <p:blipFill>
          <a:blip r:embed="rId5"/>
          <a:stretch>
            <a:fillRect/>
          </a:stretch>
        </p:blipFill>
        <p:spPr>
          <a:xfrm>
            <a:off x="6144768" y="4418081"/>
            <a:ext cx="3337560" cy="1313676"/>
          </a:xfrm>
          <a:prstGeom prst="rect">
            <a:avLst/>
          </a:prstGeom>
          <a:ln>
            <a:noFill/>
          </a:ln>
          <a:effectLst/>
        </p:spPr>
      </p:pic>
      <p:sp>
        <p:nvSpPr>
          <p:cNvPr id="23" name="TextBox 22"/>
          <p:cNvSpPr txBox="1"/>
          <p:nvPr/>
        </p:nvSpPr>
        <p:spPr>
          <a:xfrm>
            <a:off x="9582912" y="4352544"/>
            <a:ext cx="1901952" cy="1883664"/>
          </a:xfrm>
          <a:prstGeom prst="rect">
            <a:avLst/>
          </a:prstGeom>
          <a:noFill/>
        </p:spPr>
        <p:txBody>
          <a:bodyPr wrap="square" anchor="t" lIns="0" tIns="0" rIns="0" bIns="0">
            <a:spAutoFit/>
          </a:bodyPr>
          <a:lstStyle/>
          <a:p>
            <a:pPr>
              <a:spcAft>
                <a:spcPts val="400"/>
              </a:spcAft>
            </a:pPr>
            <a:r>
              <a:rPr sz="1300" b="1" i="0">
                <a:solidFill>
                  <a:srgbClr val="FB923C"/>
                </a:solidFill>
                <a:latin typeface="Inter"/>
              </a:rPr>
              <a:t>When Retention Collapses</a:t>
            </a:r>
          </a:p>
          <a:p>
            <a:r>
              <a:rPr sz="1100" b="0" i="0">
                <a:solidFill>
                  <a:srgbClr val="CBD5E1"/>
                </a:solidFill>
                <a:latin typeface="Inter"/>
              </a:rPr>
              <a:t>In Level 5 (5 checks), post-selected fidelity climbs to ~94%, but retention drops to ~24% (+23 2Q gates, +96 depth) — proving higher fidelity alone does not make a strategy better.</a:t>
            </a:r>
          </a:p>
        </p:txBody>
      </p:sp>
      <p:sp>
        <p:nvSpPr>
          <p:cNvPr id="24" name="TextBox 23"/>
          <p:cNvSpPr txBox="1"/>
          <p:nvPr/>
        </p:nvSpPr>
        <p:spPr>
          <a:xfrm>
            <a:off x="594360" y="6510528"/>
            <a:ext cx="7772400" cy="256032"/>
          </a:xfrm>
          <a:prstGeom prst="rect">
            <a:avLst/>
          </a:prstGeom>
          <a:noFill/>
        </p:spPr>
        <p:txBody>
          <a:bodyPr wrap="square" anchor="t" lIns="0" tIns="0" rIns="0" bIns="0">
            <a:spAutoFit/>
          </a:bodyPr>
          <a:lstStyle/>
          <a:p>
            <a:r>
              <a:rPr sz="1050" b="0" i="0">
                <a:solidFill>
                  <a:srgbClr val="94A3B8"/>
                </a:solidFill>
                <a:latin typeface="Inter"/>
              </a:rPr>
              <a:t>Qubit Crown  ·  Qiskit Fall Fest 2026 (Advanced Track)</a:t>
            </a:r>
          </a:p>
        </p:txBody>
      </p:sp>
      <p:sp>
        <p:nvSpPr>
          <p:cNvPr id="25" name="TextBox 24"/>
          <p:cNvSpPr txBox="1"/>
          <p:nvPr/>
        </p:nvSpPr>
        <p:spPr>
          <a:xfrm>
            <a:off x="10241280" y="6510528"/>
            <a:ext cx="1353312" cy="256032"/>
          </a:xfrm>
          <a:prstGeom prst="rect">
            <a:avLst/>
          </a:prstGeom>
          <a:noFill/>
        </p:spPr>
        <p:txBody>
          <a:bodyPr wrap="square" anchor="t" lIns="0" tIns="0" rIns="0" bIns="0">
            <a:spAutoFit/>
          </a:bodyPr>
          <a:lstStyle/>
          <a:p>
            <a:pPr algn="r"/>
            <a:r>
              <a:rPr sz="1050" b="1" i="0">
                <a:solidFill>
                  <a:srgbClr val="94A3B8"/>
                </a:solidFill>
                <a:latin typeface="Inter"/>
              </a:rPr>
              <a:t>5 / 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D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292608"/>
            <a:ext cx="8961120" cy="1143000"/>
          </a:xfrm>
          <a:prstGeom prst="rect">
            <a:avLst/>
          </a:prstGeom>
          <a:noFill/>
        </p:spPr>
        <p:txBody>
          <a:bodyPr wrap="square" anchor="t" lIns="0" tIns="0" rIns="0" bIns="0">
            <a:spAutoFit/>
          </a:bodyPr>
          <a:lstStyle/>
          <a:p>
            <a:pPr>
              <a:spcAft>
                <a:spcPts val="300"/>
              </a:spcAft>
            </a:pPr>
            <a:r>
              <a:rPr sz="1150" b="1" i="0">
                <a:solidFill>
                  <a:srgbClr val="22D3EE"/>
                </a:solidFill>
                <a:latin typeface="Inter"/>
              </a:rPr>
              <a:t>05 · STRATEGY RANKINGS &amp; COMPOSITE SCORING</a:t>
            </a:r>
          </a:p>
          <a:p>
            <a:pPr>
              <a:spcAft>
                <a:spcPts val="0"/>
              </a:spcAft>
            </a:pPr>
            <a:r>
              <a:rPr sz="2800" b="1" i="0">
                <a:solidFill>
                  <a:srgbClr val="F8FAFC"/>
                </a:solidFill>
                <a:latin typeface="Inter"/>
              </a:rPr>
              <a:t>Which strategy is worth the cost?</a:t>
            </a:r>
          </a:p>
        </p:txBody>
      </p:sp>
      <p:sp>
        <p:nvSpPr>
          <p:cNvPr id="5" name="Rounded Rectangle 4"/>
          <p:cNvSpPr/>
          <p:nvPr/>
        </p:nvSpPr>
        <p:spPr>
          <a:xfrm>
            <a:off x="9646920" y="329184"/>
            <a:ext cx="1947672" cy="384048"/>
          </a:xfrm>
          <a:prstGeom prst="roundRect">
            <a:avLst>
              <a:gd name="adj" fmla="val 15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92640" y="393192"/>
            <a:ext cx="1856231" cy="274320"/>
          </a:xfrm>
          <a:prstGeom prst="rect">
            <a:avLst/>
          </a:prstGeom>
          <a:noFill/>
        </p:spPr>
        <p:txBody>
          <a:bodyPr wrap="square" anchor="t" lIns="0" tIns="0" rIns="0" bIns="0">
            <a:spAutoFit/>
          </a:bodyPr>
          <a:lstStyle/>
          <a:p>
            <a:pPr algn="ctr"/>
            <a:r>
              <a:rPr sz="1150" b="1" i="0">
                <a:solidFill>
                  <a:srgbClr val="22D3EE"/>
                </a:solidFill>
                <a:latin typeface="Inter"/>
              </a:rPr>
              <a:t>7 RANKED STRATEGIES</a:t>
            </a:r>
          </a:p>
        </p:txBody>
      </p:sp>
      <p:sp>
        <p:nvSpPr>
          <p:cNvPr id="7" name="Rounded Rectangle 6"/>
          <p:cNvSpPr/>
          <p:nvPr/>
        </p:nvSpPr>
        <p:spPr>
          <a:xfrm>
            <a:off x="594360" y="1353312"/>
            <a:ext cx="7132320" cy="239572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353312"/>
            <a:ext cx="7132320"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crop_s6_rankings.png"/>
          <p:cNvPicPr>
            <a:picLocks noChangeAspect="1"/>
          </p:cNvPicPr>
          <p:nvPr/>
        </p:nvPicPr>
        <p:blipFill>
          <a:blip r:embed="rId3"/>
          <a:stretch>
            <a:fillRect/>
          </a:stretch>
        </p:blipFill>
        <p:spPr>
          <a:xfrm>
            <a:off x="685800" y="1500610"/>
            <a:ext cx="6949440" cy="1863386"/>
          </a:xfrm>
          <a:prstGeom prst="rect">
            <a:avLst/>
          </a:prstGeom>
          <a:ln>
            <a:noFill/>
          </a:ln>
          <a:effectLst/>
        </p:spPr>
      </p:pic>
      <p:sp>
        <p:nvSpPr>
          <p:cNvPr id="10" name="TextBox 9"/>
          <p:cNvSpPr txBox="1"/>
          <p:nvPr/>
        </p:nvSpPr>
        <p:spPr>
          <a:xfrm>
            <a:off x="713232" y="3456432"/>
            <a:ext cx="6894576" cy="256032"/>
          </a:xfrm>
          <a:prstGeom prst="rect">
            <a:avLst/>
          </a:prstGeom>
          <a:noFill/>
        </p:spPr>
        <p:txBody>
          <a:bodyPr wrap="square" anchor="t" lIns="0" tIns="0" rIns="0" bIns="0">
            <a:spAutoFit/>
          </a:bodyPr>
          <a:lstStyle/>
          <a:p>
            <a:pPr algn="ctr"/>
            <a:r>
              <a:rPr sz="1100" b="1" i="0">
                <a:solidFill>
                  <a:srgbClr val="22D3EE"/>
                </a:solidFill>
                <a:latin typeface="Inter"/>
              </a:rPr>
              <a:t>Level 1 Leaderboard: {q0, q1} has max fidelity (99.09%, Rank #5), while 1-check {q2} wins max score (93.31, Rank #1)</a:t>
            </a:r>
          </a:p>
        </p:txBody>
      </p:sp>
      <p:sp>
        <p:nvSpPr>
          <p:cNvPr id="11" name="Rounded Rectangle 10"/>
          <p:cNvSpPr/>
          <p:nvPr/>
        </p:nvSpPr>
        <p:spPr>
          <a:xfrm>
            <a:off x="594360" y="3877056"/>
            <a:ext cx="3493008" cy="2468880"/>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594360" y="3877056"/>
            <a:ext cx="3493008"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crop_s6_scatter_checks.png"/>
          <p:cNvPicPr>
            <a:picLocks noChangeAspect="1"/>
          </p:cNvPicPr>
          <p:nvPr/>
        </p:nvPicPr>
        <p:blipFill>
          <a:blip r:embed="rId4"/>
          <a:stretch>
            <a:fillRect/>
          </a:stretch>
        </p:blipFill>
        <p:spPr>
          <a:xfrm>
            <a:off x="685800" y="4070376"/>
            <a:ext cx="3310128" cy="1762199"/>
          </a:xfrm>
          <a:prstGeom prst="rect">
            <a:avLst/>
          </a:prstGeom>
          <a:ln>
            <a:noFill/>
          </a:ln>
          <a:effectLst/>
        </p:spPr>
      </p:pic>
      <p:sp>
        <p:nvSpPr>
          <p:cNvPr id="14" name="TextBox 13"/>
          <p:cNvSpPr txBox="1"/>
          <p:nvPr/>
        </p:nvSpPr>
        <p:spPr>
          <a:xfrm>
            <a:off x="685800" y="5989320"/>
            <a:ext cx="3310128" cy="292608"/>
          </a:xfrm>
          <a:prstGeom prst="rect">
            <a:avLst/>
          </a:prstGeom>
          <a:noFill/>
        </p:spPr>
        <p:txBody>
          <a:bodyPr wrap="square" anchor="t" lIns="0" tIns="0" rIns="0" bIns="0">
            <a:spAutoFit/>
          </a:bodyPr>
          <a:lstStyle/>
          <a:p>
            <a:pPr algn="ctr"/>
            <a:r>
              <a:rPr sz="1080" b="0" i="0">
                <a:solidFill>
                  <a:srgbClr val="94A3B8"/>
                </a:solidFill>
                <a:latin typeface="Inter"/>
              </a:rPr>
              <a:t>Fidelity vs. shots kept by check count (0–5 checks)</a:t>
            </a:r>
          </a:p>
        </p:txBody>
      </p:sp>
      <p:sp>
        <p:nvSpPr>
          <p:cNvPr id="15" name="Rounded Rectangle 14"/>
          <p:cNvSpPr/>
          <p:nvPr/>
        </p:nvSpPr>
        <p:spPr>
          <a:xfrm>
            <a:off x="4233672" y="3877056"/>
            <a:ext cx="3493008" cy="2468880"/>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4233672" y="3877056"/>
            <a:ext cx="3493008"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crop_s6_scatter_levels.png"/>
          <p:cNvPicPr>
            <a:picLocks noChangeAspect="1"/>
          </p:cNvPicPr>
          <p:nvPr/>
        </p:nvPicPr>
        <p:blipFill>
          <a:blip r:embed="rId5"/>
          <a:stretch>
            <a:fillRect/>
          </a:stretch>
        </p:blipFill>
        <p:spPr>
          <a:xfrm>
            <a:off x="4325112" y="4199690"/>
            <a:ext cx="3310128" cy="1503570"/>
          </a:xfrm>
          <a:prstGeom prst="rect">
            <a:avLst/>
          </a:prstGeom>
          <a:ln>
            <a:noFill/>
          </a:ln>
          <a:effectLst/>
        </p:spPr>
      </p:pic>
      <p:sp>
        <p:nvSpPr>
          <p:cNvPr id="18" name="TextBox 17"/>
          <p:cNvSpPr txBox="1"/>
          <p:nvPr/>
        </p:nvSpPr>
        <p:spPr>
          <a:xfrm>
            <a:off x="4325112" y="5989320"/>
            <a:ext cx="3310128" cy="292608"/>
          </a:xfrm>
          <a:prstGeom prst="rect">
            <a:avLst/>
          </a:prstGeom>
          <a:noFill/>
        </p:spPr>
        <p:txBody>
          <a:bodyPr wrap="square" anchor="t" lIns="0" tIns="0" rIns="0" bIns="0">
            <a:spAutoFit/>
          </a:bodyPr>
          <a:lstStyle/>
          <a:p>
            <a:pPr algn="ctr"/>
            <a:r>
              <a:rPr sz="1080" b="0" i="0">
                <a:solidFill>
                  <a:srgbClr val="94A3B8"/>
                </a:solidFill>
                <a:latin typeface="Inter"/>
              </a:rPr>
              <a:t>Fidelity vs. retention shift across all 5 campaign levels</a:t>
            </a:r>
          </a:p>
        </p:txBody>
      </p:sp>
      <p:sp>
        <p:nvSpPr>
          <p:cNvPr id="19" name="Rounded Rectangle 18"/>
          <p:cNvSpPr/>
          <p:nvPr/>
        </p:nvSpPr>
        <p:spPr>
          <a:xfrm>
            <a:off x="7882127" y="1353312"/>
            <a:ext cx="3712463" cy="4992624"/>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7882127" y="1353312"/>
            <a:ext cx="3712463"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083296" y="1481328"/>
            <a:ext cx="3310128" cy="1051560"/>
          </a:xfrm>
          <a:prstGeom prst="rect">
            <a:avLst/>
          </a:prstGeom>
          <a:noFill/>
        </p:spPr>
        <p:txBody>
          <a:bodyPr wrap="square" anchor="t" lIns="0" tIns="0" rIns="0" bIns="0">
            <a:spAutoFit/>
          </a:bodyPr>
          <a:lstStyle/>
          <a:p>
            <a:pPr>
              <a:spcAft>
                <a:spcPts val="200"/>
              </a:spcAft>
            </a:pPr>
            <a:r>
              <a:rPr sz="1100" b="1" i="0">
                <a:solidFill>
                  <a:srgbClr val="22D3EE"/>
                </a:solidFill>
                <a:latin typeface="Inter"/>
              </a:rPr>
              <a:t>VERIFIED COMPOSITE SCORE</a:t>
            </a:r>
          </a:p>
          <a:p>
            <a:pPr>
              <a:spcAft>
                <a:spcPts val="300"/>
              </a:spcAft>
            </a:pPr>
            <a:r>
              <a:rPr sz="1650" b="1" i="0">
                <a:solidFill>
                  <a:srgbClr val="F8FAFC"/>
                </a:solidFill>
                <a:latin typeface="Inter"/>
              </a:rPr>
              <a:t>Balancing Quality vs. Yield</a:t>
            </a:r>
          </a:p>
          <a:p>
            <a:r>
              <a:rPr sz="1120" b="0" i="0">
                <a:solidFill>
                  <a:srgbClr val="CBD5E1"/>
                </a:solidFill>
                <a:latin typeface="Inter"/>
              </a:rPr>
              <a:t>Ranked by a weighted harmonic score minus a separate check-cost penalty:</a:t>
            </a:r>
          </a:p>
        </p:txBody>
      </p:sp>
      <p:pic>
        <p:nvPicPr>
          <p:cNvPr id="22" name="Picture 21" descr="formula_s6.png"/>
          <p:cNvPicPr>
            <a:picLocks noChangeAspect="1"/>
          </p:cNvPicPr>
          <p:nvPr/>
        </p:nvPicPr>
        <p:blipFill>
          <a:blip r:embed="rId6"/>
          <a:stretch>
            <a:fillRect/>
          </a:stretch>
        </p:blipFill>
        <p:spPr>
          <a:xfrm>
            <a:off x="8167333" y="2615184"/>
            <a:ext cx="3142052" cy="749808"/>
          </a:xfrm>
          <a:prstGeom prst="rect">
            <a:avLst/>
          </a:prstGeom>
          <a:ln>
            <a:noFill/>
          </a:ln>
          <a:effectLst/>
        </p:spPr>
      </p:pic>
      <p:sp>
        <p:nvSpPr>
          <p:cNvPr id="23" name="TextBox 22"/>
          <p:cNvSpPr txBox="1"/>
          <p:nvPr/>
        </p:nvSpPr>
        <p:spPr>
          <a:xfrm>
            <a:off x="8083296" y="3456432"/>
            <a:ext cx="3310128" cy="2779776"/>
          </a:xfrm>
          <a:prstGeom prst="rect">
            <a:avLst/>
          </a:prstGeom>
          <a:noFill/>
        </p:spPr>
        <p:txBody>
          <a:bodyPr wrap="square" anchor="t" lIns="0" tIns="0" rIns="0" bIns="0">
            <a:spAutoFit/>
          </a:bodyPr>
          <a:lstStyle/>
          <a:p>
            <a:pPr>
              <a:spcAft>
                <a:spcPts val="500"/>
              </a:spcAft>
            </a:pPr>
            <a:r>
              <a:rPr sz="1180" b="1" i="0">
                <a:solidFill>
                  <a:srgbClr val="22D3EE"/>
                </a:solidFill>
                <a:latin typeface="Inter"/>
              </a:rPr>
              <a:t>• F (Post-selected fidelity): </a:t>
            </a:r>
            <a:r>
              <a:rPr sz="1150" b="0" i="0">
                <a:solidFill>
                  <a:srgbClr val="CBD5E1"/>
                </a:solidFill>
                <a:latin typeface="Inter"/>
              </a:rPr>
              <a:t>Conditional quality of accepted shots.</a:t>
            </a:r>
          </a:p>
          <a:p>
            <a:pPr>
              <a:spcAft>
                <a:spcPts val="500"/>
              </a:spcAft>
            </a:pPr>
            <a:r>
              <a:rPr sz="1180" b="1" i="0">
                <a:solidFill>
                  <a:srgbClr val="A78BFA"/>
                </a:solidFill>
                <a:latin typeface="Inter"/>
              </a:rPr>
              <a:t>• R (Shot retention): </a:t>
            </a:r>
            <a:r>
              <a:rPr sz="1150" b="0" i="0">
                <a:solidFill>
                  <a:srgbClr val="CBD5E1"/>
                </a:solidFill>
                <a:latin typeface="Inter"/>
              </a:rPr>
              <a:t>Fraction of total shots kept (N_acc / N_total).</a:t>
            </a:r>
          </a:p>
          <a:p>
            <a:pPr>
              <a:spcAft>
                <a:spcPts val="600"/>
              </a:spcAft>
            </a:pPr>
            <a:r>
              <a:rPr sz="1180" b="1" i="0">
                <a:solidFill>
                  <a:srgbClr val="F8FAFC"/>
                </a:solidFill>
                <a:latin typeface="Inter"/>
              </a:rPr>
              <a:t>• β_l (Level parameter): </a:t>
            </a:r>
            <a:r>
              <a:rPr sz="1150" b="0" i="0">
                <a:solidFill>
                  <a:srgbClr val="CBD5E1"/>
                </a:solidFill>
                <a:latin typeface="Inter"/>
              </a:rPr>
              <a:t>Configures the relative weight of retention vs. fidelity (e.g., β₁ ≈ 1.77 in Level 1).</a:t>
            </a:r>
          </a:p>
          <a:p>
            <a:pPr>
              <a:spcAft>
                <a:spcPts val="800"/>
              </a:spcAft>
            </a:pPr>
            <a:r>
              <a:rPr sz="1180" b="1" i="0">
                <a:solidFill>
                  <a:srgbClr val="FB923C"/>
                </a:solidFill>
                <a:latin typeface="Inter"/>
              </a:rPr>
              <a:t>• Separate Check Penalty: </a:t>
            </a:r>
            <a:r>
              <a:rPr sz="1150" b="0" i="0">
                <a:solidFill>
                  <a:srgbClr val="CBD5E1"/>
                </a:solidFill>
                <a:latin typeface="Inter"/>
              </a:rPr>
              <a:t>Subtracted from H_β after the harmonic term (UI: harmonic score 93.17 − penalty 0.00).</a:t>
            </a:r>
          </a:p>
          <a:p>
            <a:r>
              <a:rPr sz="1200" b="1" i="0">
                <a:solidFill>
                  <a:srgbClr val="34D399"/>
                </a:solidFill>
                <a:latin typeface="Inter"/>
              </a:rPr>
              <a:t>Key Takeaway: </a:t>
            </a:r>
            <a:r>
              <a:rPr sz="1150" b="0" i="0">
                <a:solidFill>
                  <a:srgbClr val="F8FAFC"/>
                </a:solidFill>
                <a:latin typeface="Inter"/>
              </a:rPr>
              <a:t>No single check count is universally optimal; 2 checks maximize fidelity, but 1 check wins overall score.</a:t>
            </a:r>
          </a:p>
        </p:txBody>
      </p:sp>
      <p:sp>
        <p:nvSpPr>
          <p:cNvPr id="24" name="TextBox 23"/>
          <p:cNvSpPr txBox="1"/>
          <p:nvPr/>
        </p:nvSpPr>
        <p:spPr>
          <a:xfrm>
            <a:off x="594360" y="6510528"/>
            <a:ext cx="7772400" cy="256032"/>
          </a:xfrm>
          <a:prstGeom prst="rect">
            <a:avLst/>
          </a:prstGeom>
          <a:noFill/>
        </p:spPr>
        <p:txBody>
          <a:bodyPr wrap="square" anchor="t" lIns="0" tIns="0" rIns="0" bIns="0">
            <a:spAutoFit/>
          </a:bodyPr>
          <a:lstStyle/>
          <a:p>
            <a:r>
              <a:rPr sz="1050" b="0" i="0">
                <a:solidFill>
                  <a:srgbClr val="94A3B8"/>
                </a:solidFill>
                <a:latin typeface="Inter"/>
              </a:rPr>
              <a:t>Qubit Crown  ·  Qiskit Fall Fest 2026 (Advanced Track)</a:t>
            </a:r>
          </a:p>
        </p:txBody>
      </p:sp>
      <p:sp>
        <p:nvSpPr>
          <p:cNvPr id="25" name="TextBox 24"/>
          <p:cNvSpPr txBox="1"/>
          <p:nvPr/>
        </p:nvSpPr>
        <p:spPr>
          <a:xfrm>
            <a:off x="10241280" y="6510528"/>
            <a:ext cx="1353312" cy="256032"/>
          </a:xfrm>
          <a:prstGeom prst="rect">
            <a:avLst/>
          </a:prstGeom>
          <a:noFill/>
        </p:spPr>
        <p:txBody>
          <a:bodyPr wrap="square" anchor="t" lIns="0" tIns="0" rIns="0" bIns="0">
            <a:spAutoFit/>
          </a:bodyPr>
          <a:lstStyle/>
          <a:p>
            <a:pPr algn="r"/>
            <a:r>
              <a:rPr sz="1050" b="1" i="0">
                <a:solidFill>
                  <a:srgbClr val="94A3B8"/>
                </a:solidFill>
                <a:latin typeface="Inter"/>
              </a:rPr>
              <a:t>6 / 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D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292608"/>
            <a:ext cx="8961120" cy="1143000"/>
          </a:xfrm>
          <a:prstGeom prst="rect">
            <a:avLst/>
          </a:prstGeom>
          <a:noFill/>
        </p:spPr>
        <p:txBody>
          <a:bodyPr wrap="square" anchor="t" lIns="0" tIns="0" rIns="0" bIns="0">
            <a:spAutoFit/>
          </a:bodyPr>
          <a:lstStyle/>
          <a:p>
            <a:pPr>
              <a:spcAft>
                <a:spcPts val="300"/>
              </a:spcAft>
            </a:pPr>
            <a:r>
              <a:rPr sz="1150" b="1" i="0">
                <a:solidFill>
                  <a:srgbClr val="22D3EE"/>
                </a:solidFill>
                <a:latin typeface="Inter"/>
              </a:rPr>
              <a:t>06 · NON-CLIFFORD INVESTIGATION</a:t>
            </a:r>
          </a:p>
          <a:p>
            <a:pPr>
              <a:spcAft>
                <a:spcPts val="0"/>
              </a:spcAft>
            </a:pPr>
            <a:r>
              <a:rPr sz="2800" b="1" i="0">
                <a:solidFill>
                  <a:srgbClr val="F8FAFC"/>
                </a:solidFill>
                <a:latin typeface="Inter"/>
              </a:rPr>
              <a:t>What changes beyond Clifford circuits?</a:t>
            </a:r>
          </a:p>
        </p:txBody>
      </p:sp>
      <p:sp>
        <p:nvSpPr>
          <p:cNvPr id="5" name="Rounded Rectangle 4"/>
          <p:cNvSpPr/>
          <p:nvPr/>
        </p:nvSpPr>
        <p:spPr>
          <a:xfrm>
            <a:off x="9646920" y="329184"/>
            <a:ext cx="1947672" cy="384048"/>
          </a:xfrm>
          <a:prstGeom prst="roundRect">
            <a:avLst>
              <a:gd name="adj" fmla="val 15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92640" y="393192"/>
            <a:ext cx="1856231" cy="274320"/>
          </a:xfrm>
          <a:prstGeom prst="rect">
            <a:avLst/>
          </a:prstGeom>
          <a:noFill/>
        </p:spPr>
        <p:txBody>
          <a:bodyPr wrap="square" anchor="t" lIns="0" tIns="0" rIns="0" bIns="0">
            <a:spAutoFit/>
          </a:bodyPr>
          <a:lstStyle/>
          <a:p>
            <a:pPr algn="ctr"/>
            <a:r>
              <a:rPr sz="1150" b="1" i="0">
                <a:solidFill>
                  <a:srgbClr val="22D3EE"/>
                </a:solidFill>
                <a:latin typeface="Inter"/>
              </a:rPr>
              <a:t>T-GATE SWEEP (0–12)</a:t>
            </a:r>
          </a:p>
        </p:txBody>
      </p:sp>
      <p:sp>
        <p:nvSpPr>
          <p:cNvPr id="7" name="Rounded Rectangle 6"/>
          <p:cNvSpPr/>
          <p:nvPr/>
        </p:nvSpPr>
        <p:spPr>
          <a:xfrm>
            <a:off x="594360" y="1371600"/>
            <a:ext cx="4114800" cy="4974336"/>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371600"/>
            <a:ext cx="4114800"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04672" y="1536192"/>
            <a:ext cx="3694176" cy="4681728"/>
          </a:xfrm>
          <a:prstGeom prst="rect">
            <a:avLst/>
          </a:prstGeom>
          <a:noFill/>
        </p:spPr>
        <p:txBody>
          <a:bodyPr wrap="square" anchor="t" lIns="0" tIns="0" rIns="0" bIns="0">
            <a:spAutoFit/>
          </a:bodyPr>
          <a:lstStyle/>
          <a:p>
            <a:pPr>
              <a:spcAft>
                <a:spcPts val="800"/>
              </a:spcAft>
            </a:pPr>
            <a:r>
              <a:rPr sz="1850" b="1" i="0">
                <a:solidFill>
                  <a:srgbClr val="F8FAFC"/>
                </a:solidFill>
                <a:latin typeface="Inter"/>
              </a:rPr>
              <a:t>Probing the Clifford Boundary</a:t>
            </a:r>
          </a:p>
          <a:p>
            <a:pPr>
              <a:spcAft>
                <a:spcPts val="1000"/>
              </a:spcAft>
            </a:pPr>
            <a:r>
              <a:rPr sz="1300" b="1" i="0">
                <a:solidFill>
                  <a:srgbClr val="22D3EE"/>
                </a:solidFill>
                <a:latin typeface="Inter"/>
              </a:rPr>
              <a:t>1. Why the Campaign Uses Clifford Circuits
</a:t>
            </a:r>
            <a:r>
              <a:rPr sz="1200" b="0" i="0">
                <a:solidFill>
                  <a:srgbClr val="CBD5E1"/>
                </a:solidFill>
                <a:latin typeface="Inter"/>
              </a:rPr>
              <a:t>The campaign's qiskit-paulice syndrome-check workflow relies on stabilizer structure to propagate Pauli checks cleanly through Clifford gates.</a:t>
            </a:r>
          </a:p>
          <a:p>
            <a:pPr>
              <a:spcAft>
                <a:spcPts val="1000"/>
              </a:spcAft>
            </a:pPr>
            <a:r>
              <a:rPr sz="1300" b="1" i="0">
                <a:solidFill>
                  <a:srgbClr val="A78BFA"/>
                </a:solidFill>
                <a:latin typeface="Inter"/>
              </a:rPr>
              <a:t>2. The T-Doped Circuit Investigation
</a:t>
            </a:r>
            <a:r>
              <a:rPr sz="1200" b="0" i="0">
                <a:solidFill>
                  <a:srgbClr val="CBD5E1"/>
                </a:solidFill>
                <a:latin typeface="Inter"/>
              </a:rPr>
              <a:t>In Analysis Lab (3 · T-Gate Sweep), we separately investigate T/Tdg-doped circuits across 0 to 12 T-gates (48 logged experiments) to observe how non-Clifford gates behave under experimental noise.</a:t>
            </a:r>
          </a:p>
          <a:p>
            <a:pPr>
              <a:spcAft>
                <a:spcPts val="1000"/>
              </a:spcAft>
            </a:pPr>
            <a:r>
              <a:rPr sz="1300" b="1" i="0">
                <a:solidFill>
                  <a:srgbClr val="FB923C"/>
                </a:solidFill>
                <a:latin typeface="Inter"/>
              </a:rPr>
              <a:t>3. Crucial Scientific Distinction
</a:t>
            </a:r>
            <a:r>
              <a:rPr sz="1200" b="0" i="0">
                <a:solidFill>
                  <a:srgbClr val="F8FAFC"/>
                </a:solidFill>
                <a:latin typeface="Inter"/>
              </a:rPr>
              <a:t>This T-gate sweep is a separate baseline investigation (Score: None; No checks). It is NOT proof that the Clifford syndrome-check workflow directly supports arbitrary non-Clifford circuits.</a:t>
            </a:r>
          </a:p>
        </p:txBody>
      </p:sp>
      <p:sp>
        <p:nvSpPr>
          <p:cNvPr id="10" name="Rounded Rectangle 9"/>
          <p:cNvSpPr/>
          <p:nvPr/>
        </p:nvSpPr>
        <p:spPr>
          <a:xfrm>
            <a:off x="4892040" y="1371600"/>
            <a:ext cx="6702552" cy="267004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892040" y="1371600"/>
            <a:ext cx="6702552"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crop_s7_tgate_chart.png"/>
          <p:cNvPicPr>
            <a:picLocks noChangeAspect="1"/>
          </p:cNvPicPr>
          <p:nvPr/>
        </p:nvPicPr>
        <p:blipFill>
          <a:blip r:embed="rId3"/>
          <a:stretch>
            <a:fillRect/>
          </a:stretch>
        </p:blipFill>
        <p:spPr>
          <a:xfrm>
            <a:off x="5807511" y="1463040"/>
            <a:ext cx="4871609" cy="2212848"/>
          </a:xfrm>
          <a:prstGeom prst="rect">
            <a:avLst/>
          </a:prstGeom>
          <a:ln>
            <a:noFill/>
          </a:ln>
          <a:effectLst/>
        </p:spPr>
      </p:pic>
      <p:sp>
        <p:nvSpPr>
          <p:cNvPr id="13" name="TextBox 12"/>
          <p:cNvSpPr txBox="1"/>
          <p:nvPr/>
        </p:nvSpPr>
        <p:spPr>
          <a:xfrm>
            <a:off x="5001768" y="3712463"/>
            <a:ext cx="6483096" cy="274320"/>
          </a:xfrm>
          <a:prstGeom prst="rect">
            <a:avLst/>
          </a:prstGeom>
          <a:noFill/>
        </p:spPr>
        <p:txBody>
          <a:bodyPr wrap="square" anchor="t" lIns="0" tIns="0" rIns="0" bIns="0">
            <a:spAutoFit/>
          </a:bodyPr>
          <a:lstStyle/>
          <a:p>
            <a:pPr algn="ctr"/>
            <a:r>
              <a:rPr sz="1120" b="0" i="0">
                <a:solidFill>
                  <a:srgbClr val="94A3B8"/>
                </a:solidFill>
                <a:latin typeface="Inter"/>
              </a:rPr>
              <a:t>Measured Analysis Lab Sweep: Noisy output fidelity across 0 to 12 T-gates</a:t>
            </a:r>
          </a:p>
        </p:txBody>
      </p:sp>
      <p:sp>
        <p:nvSpPr>
          <p:cNvPr id="14" name="Rounded Rectangle 13"/>
          <p:cNvSpPr/>
          <p:nvPr/>
        </p:nvSpPr>
        <p:spPr>
          <a:xfrm>
            <a:off x="4892040" y="4169663"/>
            <a:ext cx="6702552" cy="2176272"/>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4892040" y="4169663"/>
            <a:ext cx="6702552"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crop_s7_lab_ui.png"/>
          <p:cNvPicPr>
            <a:picLocks noChangeAspect="1"/>
          </p:cNvPicPr>
          <p:nvPr/>
        </p:nvPicPr>
        <p:blipFill>
          <a:blip r:embed="rId4"/>
          <a:stretch>
            <a:fillRect/>
          </a:stretch>
        </p:blipFill>
        <p:spPr>
          <a:xfrm>
            <a:off x="5001768" y="4261104"/>
            <a:ext cx="2794562" cy="1152144"/>
          </a:xfrm>
          <a:prstGeom prst="rect">
            <a:avLst/>
          </a:prstGeom>
          <a:ln>
            <a:noFill/>
          </a:ln>
          <a:effectLst/>
        </p:spPr>
      </p:pic>
      <p:sp>
        <p:nvSpPr>
          <p:cNvPr id="17" name="TextBox 16"/>
          <p:cNvSpPr txBox="1"/>
          <p:nvPr/>
        </p:nvSpPr>
        <p:spPr>
          <a:xfrm>
            <a:off x="8001000" y="4261104"/>
            <a:ext cx="3456432" cy="1152144"/>
          </a:xfrm>
          <a:prstGeom prst="rect">
            <a:avLst/>
          </a:prstGeom>
          <a:noFill/>
        </p:spPr>
        <p:txBody>
          <a:bodyPr wrap="square" anchor="t" lIns="0" tIns="0" rIns="0" bIns="0">
            <a:spAutoFit/>
          </a:bodyPr>
          <a:lstStyle/>
          <a:p>
            <a:pPr>
              <a:spcAft>
                <a:spcPts val="300"/>
              </a:spcAft>
            </a:pPr>
            <a:r>
              <a:rPr sz="1300" b="1" i="0">
                <a:solidFill>
                  <a:srgbClr val="A78BFA"/>
                </a:solidFill>
                <a:latin typeface="Inter"/>
              </a:rPr>
              <a:t>Recorded Field Telemetry</a:t>
            </a:r>
          </a:p>
          <a:p>
            <a:r>
              <a:rPr sz="1120" b="0" i="0">
                <a:solidFill>
                  <a:srgbClr val="CBD5E1"/>
                </a:solidFill>
                <a:latin typeface="Inter"/>
              </a:rPr>
              <a:t>• 48 T-Gate experiments logged in profile
• Dedicated '3 · T-Gate Sweep' workspace
• Logged 2,048-shot T-Gate baseline: 80.803% raw fidelity (100% retention)</a:t>
            </a:r>
          </a:p>
        </p:txBody>
      </p:sp>
      <p:pic>
        <p:nvPicPr>
          <p:cNvPr id="18" name="Picture 17" descr="crop_s7_run_log.png"/>
          <p:cNvPicPr>
            <a:picLocks noChangeAspect="1"/>
          </p:cNvPicPr>
          <p:nvPr/>
        </p:nvPicPr>
        <p:blipFill>
          <a:blip r:embed="rId5"/>
          <a:stretch>
            <a:fillRect/>
          </a:stretch>
        </p:blipFill>
        <p:spPr>
          <a:xfrm>
            <a:off x="5705504" y="5504688"/>
            <a:ext cx="5075623" cy="731520"/>
          </a:xfrm>
          <a:prstGeom prst="rect">
            <a:avLst/>
          </a:prstGeom>
          <a:ln>
            <a:noFill/>
          </a:ln>
          <a:effectLst/>
        </p:spPr>
      </p:pic>
      <p:sp>
        <p:nvSpPr>
          <p:cNvPr id="19" name="TextBox 18"/>
          <p:cNvSpPr txBox="1"/>
          <p:nvPr/>
        </p:nvSpPr>
        <p:spPr>
          <a:xfrm>
            <a:off x="594360" y="6510528"/>
            <a:ext cx="7772400" cy="256032"/>
          </a:xfrm>
          <a:prstGeom prst="rect">
            <a:avLst/>
          </a:prstGeom>
          <a:noFill/>
        </p:spPr>
        <p:txBody>
          <a:bodyPr wrap="square" anchor="t" lIns="0" tIns="0" rIns="0" bIns="0">
            <a:spAutoFit/>
          </a:bodyPr>
          <a:lstStyle/>
          <a:p>
            <a:r>
              <a:rPr sz="1050" b="0" i="0">
                <a:solidFill>
                  <a:srgbClr val="94A3B8"/>
                </a:solidFill>
                <a:latin typeface="Inter"/>
              </a:rPr>
              <a:t>Qubit Crown  ·  Qiskit Fall Fest 2026 (Advanced Track)</a:t>
            </a:r>
          </a:p>
        </p:txBody>
      </p:sp>
      <p:sp>
        <p:nvSpPr>
          <p:cNvPr id="20" name="TextBox 19"/>
          <p:cNvSpPr txBox="1"/>
          <p:nvPr/>
        </p:nvSpPr>
        <p:spPr>
          <a:xfrm>
            <a:off x="10241280" y="6510528"/>
            <a:ext cx="1353312" cy="256032"/>
          </a:xfrm>
          <a:prstGeom prst="rect">
            <a:avLst/>
          </a:prstGeom>
          <a:noFill/>
        </p:spPr>
        <p:txBody>
          <a:bodyPr wrap="square" anchor="t" lIns="0" tIns="0" rIns="0" bIns="0">
            <a:spAutoFit/>
          </a:bodyPr>
          <a:lstStyle/>
          <a:p>
            <a:pPr algn="r"/>
            <a:r>
              <a:rPr sz="1050" b="1" i="0">
                <a:solidFill>
                  <a:srgbClr val="94A3B8"/>
                </a:solidFill>
                <a:latin typeface="Inter"/>
              </a:rPr>
              <a:t>7 / 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D1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594360" y="292608"/>
            <a:ext cx="8961120" cy="1143000"/>
          </a:xfrm>
          <a:prstGeom prst="rect">
            <a:avLst/>
          </a:prstGeom>
          <a:noFill/>
        </p:spPr>
        <p:txBody>
          <a:bodyPr wrap="square" anchor="t" lIns="0" tIns="0" rIns="0" bIns="0">
            <a:spAutoFit/>
          </a:bodyPr>
          <a:lstStyle/>
          <a:p>
            <a:pPr>
              <a:spcAft>
                <a:spcPts val="300"/>
              </a:spcAft>
            </a:pPr>
            <a:r>
              <a:rPr sz="1150" b="1" i="0">
                <a:solidFill>
                  <a:srgbClr val="22D3EE"/>
                </a:solidFill>
                <a:latin typeface="Inter"/>
              </a:rPr>
              <a:t>07 · CONCLUSION &amp; KEY TAKEAWAYS</a:t>
            </a:r>
          </a:p>
          <a:p>
            <a:pPr>
              <a:spcAft>
                <a:spcPts val="0"/>
              </a:spcAft>
            </a:pPr>
            <a:r>
              <a:rPr sz="2800" b="1" i="0">
                <a:solidFill>
                  <a:srgbClr val="F8FAFC"/>
                </a:solidFill>
                <a:latin typeface="Inter"/>
              </a:rPr>
              <a:t>Error detection is a trade-off.</a:t>
            </a:r>
          </a:p>
        </p:txBody>
      </p:sp>
      <p:sp>
        <p:nvSpPr>
          <p:cNvPr id="5" name="Rounded Rectangle 4"/>
          <p:cNvSpPr/>
          <p:nvPr/>
        </p:nvSpPr>
        <p:spPr>
          <a:xfrm>
            <a:off x="9646920" y="329184"/>
            <a:ext cx="1947672" cy="384048"/>
          </a:xfrm>
          <a:prstGeom prst="roundRect">
            <a:avLst>
              <a:gd name="adj" fmla="val 15000"/>
            </a:avLst>
          </a:prstGeom>
          <a:solidFill>
            <a:srgbClr val="1421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692640" y="393192"/>
            <a:ext cx="1856231" cy="274320"/>
          </a:xfrm>
          <a:prstGeom prst="rect">
            <a:avLst/>
          </a:prstGeom>
          <a:noFill/>
        </p:spPr>
        <p:txBody>
          <a:bodyPr wrap="square" anchor="t" lIns="0" tIns="0" rIns="0" bIns="0">
            <a:spAutoFit/>
          </a:bodyPr>
          <a:lstStyle/>
          <a:p>
            <a:pPr algn="ctr"/>
            <a:r>
              <a:rPr sz="1150" b="1" i="0">
                <a:solidFill>
                  <a:srgbClr val="22D3EE"/>
                </a:solidFill>
                <a:latin typeface="Inter"/>
              </a:rPr>
              <a:t>QUBIT CROWN · 2026</a:t>
            </a:r>
          </a:p>
        </p:txBody>
      </p:sp>
      <p:sp>
        <p:nvSpPr>
          <p:cNvPr id="7" name="Rounded Rectangle 6"/>
          <p:cNvSpPr/>
          <p:nvPr/>
        </p:nvSpPr>
        <p:spPr>
          <a:xfrm>
            <a:off x="594360" y="1389888"/>
            <a:ext cx="5989320" cy="102412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94360" y="1389888"/>
            <a:ext cx="5989320"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 y="1517904"/>
            <a:ext cx="5623560" cy="804672"/>
          </a:xfrm>
          <a:prstGeom prst="rect">
            <a:avLst/>
          </a:prstGeom>
          <a:noFill/>
        </p:spPr>
        <p:txBody>
          <a:bodyPr wrap="square" anchor="t" lIns="0" tIns="0" rIns="0" bIns="0">
            <a:spAutoFit/>
          </a:bodyPr>
          <a:lstStyle/>
          <a:p>
            <a:pPr>
              <a:spcAft>
                <a:spcPts val="300"/>
              </a:spcAft>
            </a:pPr>
            <a:r>
              <a:rPr sz="1450" b="1" i="0">
                <a:solidFill>
                  <a:srgbClr val="22D3EE"/>
                </a:solidFill>
                <a:latin typeface="Inter"/>
              </a:rPr>
              <a:t>1. Post-selection changes the quality of accepted results.</a:t>
            </a:r>
          </a:p>
          <a:p>
            <a:r>
              <a:rPr sz="1180" b="0" i="0">
                <a:solidFill>
                  <a:srgbClr val="CBD5E1"/>
                </a:solidFill>
                <a:latin typeface="Inter"/>
              </a:rPr>
              <a:t>Filtering syndrome-flagged runs raises accepted fidelity (e.g., 89.68% → 97.21% with {q0} in Level 1), evaluating conditional quality on surviving shots.</a:t>
            </a:r>
          </a:p>
        </p:txBody>
      </p:sp>
      <p:sp>
        <p:nvSpPr>
          <p:cNvPr id="10" name="Rounded Rectangle 9"/>
          <p:cNvSpPr/>
          <p:nvPr/>
        </p:nvSpPr>
        <p:spPr>
          <a:xfrm>
            <a:off x="594360" y="2532888"/>
            <a:ext cx="5989320" cy="102412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594360" y="2532888"/>
            <a:ext cx="5989320" cy="45720"/>
          </a:xfrm>
          <a:prstGeom prst="rect">
            <a:avLst/>
          </a:prstGeom>
          <a:solidFill>
            <a:srgbClr val="A78B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86384" y="2660904"/>
            <a:ext cx="5623560" cy="804672"/>
          </a:xfrm>
          <a:prstGeom prst="rect">
            <a:avLst/>
          </a:prstGeom>
          <a:noFill/>
        </p:spPr>
        <p:txBody>
          <a:bodyPr wrap="square" anchor="t" lIns="0" tIns="0" rIns="0" bIns="0">
            <a:spAutoFit/>
          </a:bodyPr>
          <a:lstStyle/>
          <a:p>
            <a:pPr>
              <a:spcAft>
                <a:spcPts val="300"/>
              </a:spcAft>
            </a:pPr>
            <a:r>
              <a:rPr sz="1450" b="1" i="0">
                <a:solidFill>
                  <a:srgbClr val="A78BFA"/>
                </a:solidFill>
                <a:latin typeface="Inter"/>
              </a:rPr>
              <a:t>2. Rejected shots reduce the number of usable samples.</a:t>
            </a:r>
          </a:p>
          <a:p>
            <a:r>
              <a:rPr sz="1180" b="0" i="0">
                <a:solidFill>
                  <a:srgbClr val="CBD5E1"/>
                </a:solidFill>
                <a:latin typeface="Inter"/>
              </a:rPr>
              <a:t>Flagged runs are discarded, not corrected in flight — cutting sample yield from 100% to 82.42% (1 check) and down to ~24% under heavy check loads.</a:t>
            </a:r>
          </a:p>
        </p:txBody>
      </p:sp>
      <p:sp>
        <p:nvSpPr>
          <p:cNvPr id="13" name="Rounded Rectangle 12"/>
          <p:cNvSpPr/>
          <p:nvPr/>
        </p:nvSpPr>
        <p:spPr>
          <a:xfrm>
            <a:off x="594360" y="3675887"/>
            <a:ext cx="5989320" cy="1024128"/>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94360" y="3675887"/>
            <a:ext cx="5989320" cy="45720"/>
          </a:xfrm>
          <a:prstGeom prst="rect">
            <a:avLst/>
          </a:prstGeom>
          <a:solidFill>
            <a:srgbClr val="FB92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86384" y="3803903"/>
            <a:ext cx="5623560" cy="804672"/>
          </a:xfrm>
          <a:prstGeom prst="rect">
            <a:avLst/>
          </a:prstGeom>
          <a:noFill/>
        </p:spPr>
        <p:txBody>
          <a:bodyPr wrap="square" anchor="t" lIns="0" tIns="0" rIns="0" bIns="0">
            <a:spAutoFit/>
          </a:bodyPr>
          <a:lstStyle/>
          <a:p>
            <a:pPr>
              <a:spcAft>
                <a:spcPts val="300"/>
              </a:spcAft>
            </a:pPr>
            <a:r>
              <a:rPr sz="1450" b="1" i="0">
                <a:solidFill>
                  <a:srgbClr val="FB923C"/>
                </a:solidFill>
                <a:latin typeface="Inter"/>
              </a:rPr>
              <a:t>3. Check circuitry introduces additional resource costs.</a:t>
            </a:r>
          </a:p>
          <a:p>
            <a:r>
              <a:rPr sz="1180" b="0" i="0">
                <a:solidFill>
                  <a:srgbClr val="CBD5E1"/>
                </a:solidFill>
                <a:latin typeface="Inter"/>
              </a:rPr>
              <a:t>Ancilla qubits, extra two-qubit gates (14 → 16), and deeper circuits (20 → 29) add physical noise that must be weighed against fidelity gains.</a:t>
            </a:r>
          </a:p>
        </p:txBody>
      </p:sp>
      <p:sp>
        <p:nvSpPr>
          <p:cNvPr id="16" name="Rounded Rectangle 15"/>
          <p:cNvSpPr/>
          <p:nvPr/>
        </p:nvSpPr>
        <p:spPr>
          <a:xfrm>
            <a:off x="594360" y="4864608"/>
            <a:ext cx="5989320" cy="1426464"/>
          </a:xfrm>
          <a:prstGeom prst="roundRect">
            <a:avLst>
              <a:gd name="adj" fmla="val 4000"/>
            </a:avLst>
          </a:prstGeom>
          <a:solidFill>
            <a:srgbClr val="0D223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594360" y="4864608"/>
            <a:ext cx="5989320" cy="45720"/>
          </a:xfrm>
          <a:prstGeom prst="rect">
            <a:avLst/>
          </a:prstGeom>
          <a:solidFill>
            <a:srgbClr val="34D3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04672" y="4992624"/>
            <a:ext cx="5577840" cy="1207008"/>
          </a:xfrm>
          <a:prstGeom prst="rect">
            <a:avLst/>
          </a:prstGeom>
          <a:noFill/>
        </p:spPr>
        <p:txBody>
          <a:bodyPr wrap="square" anchor="t" lIns="0" tIns="0" rIns="0" bIns="0">
            <a:spAutoFit/>
          </a:bodyPr>
          <a:lstStyle/>
          <a:p>
            <a:pPr>
              <a:spcAft>
                <a:spcPts val="600"/>
              </a:spcAft>
            </a:pPr>
            <a:r>
              <a:rPr sz="1600" b="1" i="0">
                <a:solidFill>
                  <a:srgbClr val="F8FAFC"/>
                </a:solidFill>
                <a:latin typeface="Inter"/>
              </a:rPr>
              <a:t>Qubit Crown makes these trade-offs interactive and experimentally explorable.</a:t>
            </a:r>
          </a:p>
          <a:p>
            <a:r>
              <a:rPr sz="1300" b="1" i="0">
                <a:solidFill>
                  <a:srgbClr val="22D3EE"/>
                </a:solidFill>
                <a:latin typeface="Inter"/>
              </a:rPr>
              <a:t>Qubit Crown  ·  Qiskit Fall Fest 2026 · Advanced Track  ·  Team: Ayaan and Vivaan</a:t>
            </a:r>
          </a:p>
        </p:txBody>
      </p:sp>
      <p:sp>
        <p:nvSpPr>
          <p:cNvPr id="19" name="Rounded Rectangle 18"/>
          <p:cNvSpPr/>
          <p:nvPr/>
        </p:nvSpPr>
        <p:spPr>
          <a:xfrm>
            <a:off x="6766560" y="1389888"/>
            <a:ext cx="4828032" cy="4901184"/>
          </a:xfrm>
          <a:prstGeom prst="roundRect">
            <a:avLst>
              <a:gd name="adj" fmla="val 4000"/>
            </a:avLst>
          </a:prstGeom>
          <a:solidFill>
            <a:srgbClr val="1019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766560" y="1389888"/>
            <a:ext cx="4828032" cy="45720"/>
          </a:xfrm>
          <a:prstGeom prst="rect">
            <a:avLst/>
          </a:prstGeom>
          <a:solidFill>
            <a:srgbClr val="22D3E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crop_s8_island.png"/>
          <p:cNvPicPr>
            <a:picLocks noChangeAspect="1"/>
          </p:cNvPicPr>
          <p:nvPr/>
        </p:nvPicPr>
        <p:blipFill>
          <a:blip r:embed="rId3"/>
          <a:stretch>
            <a:fillRect/>
          </a:stretch>
        </p:blipFill>
        <p:spPr>
          <a:xfrm>
            <a:off x="6894576" y="2409021"/>
            <a:ext cx="4572000" cy="2414860"/>
          </a:xfrm>
          <a:prstGeom prst="rect">
            <a:avLst/>
          </a:prstGeom>
          <a:ln>
            <a:noFill/>
          </a:ln>
          <a:effectLst/>
        </p:spPr>
      </p:pic>
      <p:sp>
        <p:nvSpPr>
          <p:cNvPr id="22" name="TextBox 21"/>
          <p:cNvSpPr txBox="1"/>
          <p:nvPr/>
        </p:nvSpPr>
        <p:spPr>
          <a:xfrm>
            <a:off x="6894576" y="5779008"/>
            <a:ext cx="4572000" cy="402336"/>
          </a:xfrm>
          <a:prstGeom prst="rect">
            <a:avLst/>
          </a:prstGeom>
          <a:noFill/>
        </p:spPr>
        <p:txBody>
          <a:bodyPr wrap="square" anchor="t" lIns="0" tIns="0" rIns="0" bIns="0">
            <a:spAutoFit/>
          </a:bodyPr>
          <a:lstStyle/>
          <a:p>
            <a:pPr algn="ctr"/>
            <a:r>
              <a:rPr sz="1120" b="0" i="0">
                <a:solidFill>
                  <a:srgbClr val="94A3B8"/>
                </a:solidFill>
                <a:latin typeface="Inter"/>
              </a:rPr>
              <a:t>Quantum Island · Level 5 (Clifford Core Meltdown): 7 data-qubit lanes around Qubit Crown Core</a:t>
            </a:r>
          </a:p>
        </p:txBody>
      </p:sp>
      <p:sp>
        <p:nvSpPr>
          <p:cNvPr id="23" name="TextBox 22"/>
          <p:cNvSpPr txBox="1"/>
          <p:nvPr/>
        </p:nvSpPr>
        <p:spPr>
          <a:xfrm>
            <a:off x="594360" y="6510528"/>
            <a:ext cx="7772400" cy="256032"/>
          </a:xfrm>
          <a:prstGeom prst="rect">
            <a:avLst/>
          </a:prstGeom>
          <a:noFill/>
        </p:spPr>
        <p:txBody>
          <a:bodyPr wrap="square" anchor="t" lIns="0" tIns="0" rIns="0" bIns="0">
            <a:spAutoFit/>
          </a:bodyPr>
          <a:lstStyle/>
          <a:p>
            <a:r>
              <a:rPr sz="1050" b="0" i="0">
                <a:solidFill>
                  <a:srgbClr val="94A3B8"/>
                </a:solidFill>
                <a:latin typeface="Inter"/>
              </a:rPr>
              <a:t>Qubit Crown  ·  Qiskit Fall Fest 2026 (Advanced Track)</a:t>
            </a:r>
          </a:p>
        </p:txBody>
      </p:sp>
      <p:sp>
        <p:nvSpPr>
          <p:cNvPr id="24" name="TextBox 23"/>
          <p:cNvSpPr txBox="1"/>
          <p:nvPr/>
        </p:nvSpPr>
        <p:spPr>
          <a:xfrm>
            <a:off x="10241280" y="6510528"/>
            <a:ext cx="1353312" cy="256032"/>
          </a:xfrm>
          <a:prstGeom prst="rect">
            <a:avLst/>
          </a:prstGeom>
          <a:noFill/>
        </p:spPr>
        <p:txBody>
          <a:bodyPr wrap="square" anchor="t" lIns="0" tIns="0" rIns="0" bIns="0">
            <a:spAutoFit/>
          </a:bodyPr>
          <a:lstStyle/>
          <a:p>
            <a:pPr algn="r"/>
            <a:r>
              <a:rPr sz="1050" b="1" i="0">
                <a:solidFill>
                  <a:srgbClr val="94A3B8"/>
                </a:solidFill>
                <a:latin typeface="Inter"/>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2026-10-16T13:58:13Z</dcterms:created>
  <dcterms:modified xsi:type="dcterms:W3CDTF">2026-10-16T13:58:13Z</dcterms:modified>
</cp:coreProperties>
</file>